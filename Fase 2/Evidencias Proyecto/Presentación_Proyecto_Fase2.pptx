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ryndan Write" charset="1" panose="02000503000000000000"/>
      <p:regular r:id="rId16"/>
    </p:embeddedFont>
    <p:embeddedFont>
      <p:font typeface="Glacial Indifference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3.png" Type="http://schemas.openxmlformats.org/officeDocument/2006/relationships/image"/><Relationship Id="rId4" Target="../media/image4.png" Type="http://schemas.openxmlformats.org/officeDocument/2006/relationships/image"/><Relationship Id="rId5" Target="../media/image14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8372" y="1935357"/>
            <a:ext cx="11080422" cy="5997279"/>
          </a:xfrm>
          <a:custGeom>
            <a:avLst/>
            <a:gdLst/>
            <a:ahLst/>
            <a:cxnLst/>
            <a:rect r="r" b="b" t="t" l="l"/>
            <a:pathLst>
              <a:path h="5997279" w="11080422">
                <a:moveTo>
                  <a:pt x="0" y="0"/>
                </a:moveTo>
                <a:lnTo>
                  <a:pt x="11080423" y="0"/>
                </a:lnTo>
                <a:lnTo>
                  <a:pt x="11080423" y="5997279"/>
                </a:lnTo>
                <a:lnTo>
                  <a:pt x="0" y="599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076" y="6078783"/>
            <a:ext cx="6166049" cy="5464661"/>
          </a:xfrm>
          <a:custGeom>
            <a:avLst/>
            <a:gdLst/>
            <a:ahLst/>
            <a:cxnLst/>
            <a:rect r="r" b="b" t="t" l="l"/>
            <a:pathLst>
              <a:path h="5464661" w="6166049">
                <a:moveTo>
                  <a:pt x="0" y="0"/>
                </a:moveTo>
                <a:lnTo>
                  <a:pt x="6166049" y="0"/>
                </a:lnTo>
                <a:lnTo>
                  <a:pt x="6166049" y="5464661"/>
                </a:lnTo>
                <a:lnTo>
                  <a:pt x="0" y="546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87208" y="-61451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735" y="1346399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59" y="0"/>
                </a:lnTo>
                <a:lnTo>
                  <a:pt x="3272359" y="3966496"/>
                </a:lnTo>
                <a:lnTo>
                  <a:pt x="0" y="396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932" y="6632028"/>
            <a:ext cx="6633407" cy="6675126"/>
          </a:xfrm>
          <a:custGeom>
            <a:avLst/>
            <a:gdLst/>
            <a:ahLst/>
            <a:cxnLst/>
            <a:rect r="r" b="b" t="t" l="l"/>
            <a:pathLst>
              <a:path h="6675126" w="6633407">
                <a:moveTo>
                  <a:pt x="0" y="0"/>
                </a:moveTo>
                <a:lnTo>
                  <a:pt x="6633406" y="0"/>
                </a:lnTo>
                <a:lnTo>
                  <a:pt x="6633406" y="6675126"/>
                </a:lnTo>
                <a:lnTo>
                  <a:pt x="0" y="667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32587" y="6346032"/>
            <a:ext cx="5171992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Millarary Currihual</a:t>
            </a:r>
          </a:p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Millaray Ibarra</a:t>
            </a:r>
          </a:p>
          <a:p>
            <a:pPr algn="ctr">
              <a:lnSpc>
                <a:spcPts val="3219"/>
              </a:lnSpc>
            </a:pPr>
            <a:r>
              <a:rPr lang="en-US" sz="2799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Antonia Rojas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8887" y="4134615"/>
            <a:ext cx="7593044" cy="192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2"/>
              </a:lnSpc>
            </a:pPr>
            <a:r>
              <a:rPr lang="en-US" sz="14764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LevelUp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95010" y="917561"/>
            <a:ext cx="9328581" cy="2470199"/>
            <a:chOff x="0" y="0"/>
            <a:chExt cx="12438107" cy="32935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491994"/>
              <a:ext cx="12438107" cy="1801605"/>
              <a:chOff x="0" y="0"/>
              <a:chExt cx="3041308" cy="44052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041309" cy="440520"/>
              </a:xfrm>
              <a:custGeom>
                <a:avLst/>
                <a:gdLst/>
                <a:ahLst/>
                <a:cxnLst/>
                <a:rect r="r" b="b" t="t" l="l"/>
                <a:pathLst>
                  <a:path h="440520" w="3041309">
                    <a:moveTo>
                      <a:pt x="67044" y="0"/>
                    </a:moveTo>
                    <a:lnTo>
                      <a:pt x="2974264" y="0"/>
                    </a:lnTo>
                    <a:cubicBezTo>
                      <a:pt x="3011292" y="0"/>
                      <a:pt x="3041309" y="30017"/>
                      <a:pt x="3041309" y="67044"/>
                    </a:cubicBezTo>
                    <a:lnTo>
                      <a:pt x="3041309" y="373476"/>
                    </a:lnTo>
                    <a:cubicBezTo>
                      <a:pt x="3041309" y="410503"/>
                      <a:pt x="3011292" y="440520"/>
                      <a:pt x="2974264" y="440520"/>
                    </a:cubicBezTo>
                    <a:lnTo>
                      <a:pt x="67044" y="440520"/>
                    </a:lnTo>
                    <a:cubicBezTo>
                      <a:pt x="30017" y="440520"/>
                      <a:pt x="0" y="410503"/>
                      <a:pt x="0" y="373476"/>
                    </a:cubicBezTo>
                    <a:lnTo>
                      <a:pt x="0" y="67044"/>
                    </a:lnTo>
                    <a:cubicBezTo>
                      <a:pt x="0" y="30017"/>
                      <a:pt x="30017" y="0"/>
                      <a:pt x="67044" y="0"/>
                    </a:cubicBezTo>
                    <a:close/>
                  </a:path>
                </a:pathLst>
              </a:custGeom>
              <a:solidFill>
                <a:srgbClr val="FFFDB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041308" cy="4786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178069" y="0"/>
              <a:ext cx="3599229" cy="2946869"/>
            </a:xfrm>
            <a:custGeom>
              <a:avLst/>
              <a:gdLst/>
              <a:ahLst/>
              <a:cxnLst/>
              <a:rect r="r" b="b" t="t" l="l"/>
              <a:pathLst>
                <a:path h="2946869" w="3599229">
                  <a:moveTo>
                    <a:pt x="0" y="0"/>
                  </a:moveTo>
                  <a:lnTo>
                    <a:pt x="3599229" y="0"/>
                  </a:lnTo>
                  <a:lnTo>
                    <a:pt x="3599229" y="2946869"/>
                  </a:lnTo>
                  <a:lnTo>
                    <a:pt x="0" y="2946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44918" y="6460154"/>
            <a:ext cx="7678881" cy="279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8"/>
              </a:lnSpc>
            </a:pPr>
            <a:r>
              <a:rPr lang="en-US" sz="2691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LevelUp es una aplicación web diseñada para complementar el trabajo en el aula y reforzar los aprendizajes de estudiantes de educación básica. Su objetivo es ofrecer un espacio digital interactivo y motivador donde los contenidos escolares puedan ser repasados de forma práctica y dinámica.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27187" y="993761"/>
            <a:ext cx="3838718" cy="9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4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582" y="2410305"/>
            <a:ext cx="8154336" cy="263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</a:pPr>
            <a:r>
              <a:rPr lang="en-US" sz="254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educación básica, los estudiantes aprendían a ritmos distintos, lo que podía generar brechas y desmotivación. Se necesitaban recursos adicionales y dinámicos para reforzar el aprendizaje, y herramientas que permitieran a los docentes seguir el progreso, favoreciendo una educación más inclusiva y efectiva.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5000" y="4332901"/>
            <a:ext cx="3838718" cy="9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64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Solución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73752" y="5884345"/>
            <a:ext cx="4279788" cy="4306902"/>
          </a:xfrm>
          <a:custGeom>
            <a:avLst/>
            <a:gdLst/>
            <a:ahLst/>
            <a:cxnLst/>
            <a:rect r="r" b="b" t="t" l="l"/>
            <a:pathLst>
              <a:path h="4306902" w="4279788">
                <a:moveTo>
                  <a:pt x="0" y="0"/>
                </a:moveTo>
                <a:lnTo>
                  <a:pt x="4279788" y="0"/>
                </a:lnTo>
                <a:lnTo>
                  <a:pt x="4279788" y="4306902"/>
                </a:lnTo>
                <a:lnTo>
                  <a:pt x="0" y="430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9757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-111703"/>
            <a:ext cx="6566105" cy="4604481"/>
          </a:xfrm>
          <a:custGeom>
            <a:avLst/>
            <a:gdLst/>
            <a:ahLst/>
            <a:cxnLst/>
            <a:rect r="r" b="b" t="t" l="l"/>
            <a:pathLst>
              <a:path h="4604481" w="6566105">
                <a:moveTo>
                  <a:pt x="0" y="0"/>
                </a:moveTo>
                <a:lnTo>
                  <a:pt x="6566105" y="0"/>
                </a:lnTo>
                <a:lnTo>
                  <a:pt x="6566105" y="4604481"/>
                </a:lnTo>
                <a:lnTo>
                  <a:pt x="0" y="4604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51484" y="8081116"/>
            <a:ext cx="2580632" cy="2112893"/>
          </a:xfrm>
          <a:custGeom>
            <a:avLst/>
            <a:gdLst/>
            <a:ahLst/>
            <a:cxnLst/>
            <a:rect r="r" b="b" t="t" l="l"/>
            <a:pathLst>
              <a:path h="2112893" w="2580632">
                <a:moveTo>
                  <a:pt x="0" y="0"/>
                </a:moveTo>
                <a:lnTo>
                  <a:pt x="2580632" y="0"/>
                </a:lnTo>
                <a:lnTo>
                  <a:pt x="2580632" y="2112893"/>
                </a:lnTo>
                <a:lnTo>
                  <a:pt x="0" y="211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64457" y="3806810"/>
            <a:ext cx="8259393" cy="318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Este problema afectaba a estudiantes de educación básica, quienes enfrentaban dificultades de concentración, distintos ritmos de aprendizaje y poca disponibilidad de recursos dinámicos, lo que generaba frustración y desmotivación.</a:t>
            </a:r>
          </a:p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Ellos preferían actividades entretenidas y accesibles que hicieran el aprendizaje más dinámico y motivador.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17774" y="1358732"/>
            <a:ext cx="8065967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Beneficiarios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71956" y="5143500"/>
            <a:ext cx="7698054" cy="7746824"/>
          </a:xfrm>
          <a:custGeom>
            <a:avLst/>
            <a:gdLst/>
            <a:ahLst/>
            <a:cxnLst/>
            <a:rect r="r" b="b" t="t" l="l"/>
            <a:pathLst>
              <a:path h="7746824" w="7698054">
                <a:moveTo>
                  <a:pt x="0" y="0"/>
                </a:moveTo>
                <a:lnTo>
                  <a:pt x="7698054" y="0"/>
                </a:lnTo>
                <a:lnTo>
                  <a:pt x="7698054" y="7746824"/>
                </a:lnTo>
                <a:lnTo>
                  <a:pt x="0" y="774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824" y="4088695"/>
            <a:ext cx="8259393" cy="227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2623">
                <a:solidFill>
                  <a:srgbClr val="4D5C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desarrollo del proyecto se llevó a cabo bajo un enfoque tradicional de cascada, el cual dividió el proceso en fases secuenciales bien definidas. Este enfoque permitió una planificación estructurada y un control riguroso del avance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5824" y="1849867"/>
            <a:ext cx="8065967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Metodología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11518" y="582202"/>
            <a:ext cx="4109992" cy="3765780"/>
          </a:xfrm>
          <a:custGeom>
            <a:avLst/>
            <a:gdLst/>
            <a:ahLst/>
            <a:cxnLst/>
            <a:rect r="r" b="b" t="t" l="l"/>
            <a:pathLst>
              <a:path h="3765780" w="4109992">
                <a:moveTo>
                  <a:pt x="0" y="0"/>
                </a:moveTo>
                <a:lnTo>
                  <a:pt x="4109992" y="0"/>
                </a:lnTo>
                <a:lnTo>
                  <a:pt x="4109992" y="3765780"/>
                </a:lnTo>
                <a:lnTo>
                  <a:pt x="0" y="376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299" y="6967805"/>
            <a:ext cx="2549170" cy="3034726"/>
          </a:xfrm>
          <a:custGeom>
            <a:avLst/>
            <a:gdLst/>
            <a:ahLst/>
            <a:cxnLst/>
            <a:rect r="r" b="b" t="t" l="l"/>
            <a:pathLst>
              <a:path h="3034726" w="2549170">
                <a:moveTo>
                  <a:pt x="0" y="0"/>
                </a:moveTo>
                <a:lnTo>
                  <a:pt x="2549170" y="0"/>
                </a:lnTo>
                <a:lnTo>
                  <a:pt x="2549170" y="3034726"/>
                </a:lnTo>
                <a:lnTo>
                  <a:pt x="0" y="3034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26087" y="1345054"/>
            <a:ext cx="14035827" cy="7596891"/>
          </a:xfrm>
          <a:custGeom>
            <a:avLst/>
            <a:gdLst/>
            <a:ahLst/>
            <a:cxnLst/>
            <a:rect r="r" b="b" t="t" l="l"/>
            <a:pathLst>
              <a:path h="7596891" w="14035827">
                <a:moveTo>
                  <a:pt x="0" y="0"/>
                </a:moveTo>
                <a:lnTo>
                  <a:pt x="14035826" y="0"/>
                </a:lnTo>
                <a:lnTo>
                  <a:pt x="14035826" y="7596892"/>
                </a:lnTo>
                <a:lnTo>
                  <a:pt x="0" y="75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37140" y="8811114"/>
            <a:ext cx="1647020" cy="2435520"/>
          </a:xfrm>
          <a:custGeom>
            <a:avLst/>
            <a:gdLst/>
            <a:ahLst/>
            <a:cxnLst/>
            <a:rect r="r" b="b" t="t" l="l"/>
            <a:pathLst>
              <a:path h="2435520" w="1647020">
                <a:moveTo>
                  <a:pt x="0" y="0"/>
                </a:moveTo>
                <a:lnTo>
                  <a:pt x="1647021" y="0"/>
                </a:lnTo>
                <a:lnTo>
                  <a:pt x="1647021" y="2435520"/>
                </a:lnTo>
                <a:lnTo>
                  <a:pt x="0" y="243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349546" y="6275589"/>
            <a:ext cx="1819508" cy="4777057"/>
          </a:xfrm>
          <a:custGeom>
            <a:avLst/>
            <a:gdLst/>
            <a:ahLst/>
            <a:cxnLst/>
            <a:rect r="r" b="b" t="t" l="l"/>
            <a:pathLst>
              <a:path h="4777057" w="1819508">
                <a:moveTo>
                  <a:pt x="1819508" y="0"/>
                </a:moveTo>
                <a:lnTo>
                  <a:pt x="0" y="0"/>
                </a:lnTo>
                <a:lnTo>
                  <a:pt x="0" y="4777057"/>
                </a:lnTo>
                <a:lnTo>
                  <a:pt x="1819508" y="4777057"/>
                </a:lnTo>
                <a:lnTo>
                  <a:pt x="1819508" y="0"/>
                </a:lnTo>
                <a:close/>
              </a:path>
            </a:pathLst>
          </a:custGeom>
          <a:blipFill>
            <a:blip r:embed="rId4"/>
            <a:stretch>
              <a:fillRect l="-334859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76073" y="1842852"/>
            <a:ext cx="9945456" cy="6601296"/>
          </a:xfrm>
          <a:custGeom>
            <a:avLst/>
            <a:gdLst/>
            <a:ahLst/>
            <a:cxnLst/>
            <a:rect r="r" b="b" t="t" l="l"/>
            <a:pathLst>
              <a:path h="6601296" w="9945456">
                <a:moveTo>
                  <a:pt x="0" y="0"/>
                </a:moveTo>
                <a:lnTo>
                  <a:pt x="9945456" y="0"/>
                </a:lnTo>
                <a:lnTo>
                  <a:pt x="9945456" y="6601296"/>
                </a:lnTo>
                <a:lnTo>
                  <a:pt x="0" y="6601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" t="0" r="-4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66370" y="117102"/>
            <a:ext cx="710253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Arquitectura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40633" y="7195940"/>
            <a:ext cx="2963887" cy="1789447"/>
          </a:xfrm>
          <a:custGeom>
            <a:avLst/>
            <a:gdLst/>
            <a:ahLst/>
            <a:cxnLst/>
            <a:rect r="r" b="b" t="t" l="l"/>
            <a:pathLst>
              <a:path h="1789447" w="2963887">
                <a:moveTo>
                  <a:pt x="0" y="0"/>
                </a:moveTo>
                <a:lnTo>
                  <a:pt x="2963886" y="0"/>
                </a:lnTo>
                <a:lnTo>
                  <a:pt x="2963886" y="1789446"/>
                </a:lnTo>
                <a:lnTo>
                  <a:pt x="0" y="1789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3762" y="7083871"/>
            <a:ext cx="12253779" cy="2616028"/>
          </a:xfrm>
          <a:custGeom>
            <a:avLst/>
            <a:gdLst/>
            <a:ahLst/>
            <a:cxnLst/>
            <a:rect r="r" b="b" t="t" l="l"/>
            <a:pathLst>
              <a:path h="2616028" w="12253779">
                <a:moveTo>
                  <a:pt x="0" y="0"/>
                </a:moveTo>
                <a:lnTo>
                  <a:pt x="12253779" y="0"/>
                </a:lnTo>
                <a:lnTo>
                  <a:pt x="12253779" y="2616028"/>
                </a:lnTo>
                <a:lnTo>
                  <a:pt x="0" y="2616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4" r="0" b="-35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36180" y="-794090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60" y="0"/>
                </a:lnTo>
                <a:lnTo>
                  <a:pt x="3272360" y="3966497"/>
                </a:lnTo>
                <a:lnTo>
                  <a:pt x="0" y="3966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3762" y="801768"/>
            <a:ext cx="12253779" cy="6002650"/>
          </a:xfrm>
          <a:custGeom>
            <a:avLst/>
            <a:gdLst/>
            <a:ahLst/>
            <a:cxnLst/>
            <a:rect r="r" b="b" t="t" l="l"/>
            <a:pathLst>
              <a:path h="6002650" w="12253779">
                <a:moveTo>
                  <a:pt x="0" y="0"/>
                </a:moveTo>
                <a:lnTo>
                  <a:pt x="12253779" y="0"/>
                </a:lnTo>
                <a:lnTo>
                  <a:pt x="12253779" y="6002651"/>
                </a:lnTo>
                <a:lnTo>
                  <a:pt x="0" y="6002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17" r="-45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592256" y="4213774"/>
            <a:ext cx="3667044" cy="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5626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Cronograma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14261" y="-255581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01224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16155" y="8777536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0" y="7637642"/>
            <a:ext cx="1006831" cy="2643400"/>
          </a:xfrm>
          <a:custGeom>
            <a:avLst/>
            <a:gdLst/>
            <a:ahLst/>
            <a:cxnLst/>
            <a:rect r="r" b="b" t="t" l="l"/>
            <a:pathLst>
              <a:path h="2643400" w="1006831">
                <a:moveTo>
                  <a:pt x="1006831" y="0"/>
                </a:moveTo>
                <a:lnTo>
                  <a:pt x="0" y="0"/>
                </a:lnTo>
                <a:lnTo>
                  <a:pt x="0" y="2643399"/>
                </a:lnTo>
                <a:lnTo>
                  <a:pt x="1006831" y="2643399"/>
                </a:lnTo>
                <a:lnTo>
                  <a:pt x="1006831" y="0"/>
                </a:lnTo>
                <a:close/>
              </a:path>
            </a:pathLst>
          </a:custGeom>
          <a:blipFill>
            <a:blip r:embed="rId3"/>
            <a:stretch>
              <a:fillRect l="-334859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5480445" y="676991"/>
            <a:ext cx="9328581" cy="1351204"/>
            <a:chOff x="0" y="0"/>
            <a:chExt cx="3041308" cy="440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1309" cy="440520"/>
            </a:xfrm>
            <a:custGeom>
              <a:avLst/>
              <a:gdLst/>
              <a:ahLst/>
              <a:cxnLst/>
              <a:rect r="r" b="b" t="t" l="l"/>
              <a:pathLst>
                <a:path h="440520" w="3041309">
                  <a:moveTo>
                    <a:pt x="82991" y="0"/>
                  </a:moveTo>
                  <a:lnTo>
                    <a:pt x="2958317" y="0"/>
                  </a:lnTo>
                  <a:cubicBezTo>
                    <a:pt x="3004152" y="0"/>
                    <a:pt x="3041309" y="37157"/>
                    <a:pt x="3041309" y="82991"/>
                  </a:cubicBezTo>
                  <a:lnTo>
                    <a:pt x="3041309" y="357529"/>
                  </a:lnTo>
                  <a:cubicBezTo>
                    <a:pt x="3041309" y="403364"/>
                    <a:pt x="3004152" y="440520"/>
                    <a:pt x="2958317" y="440520"/>
                  </a:cubicBezTo>
                  <a:lnTo>
                    <a:pt x="82991" y="440520"/>
                  </a:lnTo>
                  <a:cubicBezTo>
                    <a:pt x="37157" y="440520"/>
                    <a:pt x="0" y="403364"/>
                    <a:pt x="0" y="357529"/>
                  </a:cubicBezTo>
                  <a:lnTo>
                    <a:pt x="0" y="82991"/>
                  </a:lnTo>
                  <a:cubicBezTo>
                    <a:pt x="0" y="37157"/>
                    <a:pt x="37157" y="0"/>
                    <a:pt x="82991" y="0"/>
                  </a:cubicBez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1308" cy="478620"/>
            </a:xfrm>
            <a:prstGeom prst="rect">
              <a:avLst/>
            </a:prstGeom>
          </p:spPr>
          <p:txBody>
            <a:bodyPr anchor="ctr" rtlCol="false" tIns="41039" lIns="41039" bIns="41039" rIns="4103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19002" y="519812"/>
            <a:ext cx="1552027" cy="1270722"/>
          </a:xfrm>
          <a:custGeom>
            <a:avLst/>
            <a:gdLst/>
            <a:ahLst/>
            <a:cxnLst/>
            <a:rect r="r" b="b" t="t" l="l"/>
            <a:pathLst>
              <a:path h="1270722" w="1552027">
                <a:moveTo>
                  <a:pt x="0" y="0"/>
                </a:moveTo>
                <a:lnTo>
                  <a:pt x="1552027" y="0"/>
                </a:lnTo>
                <a:lnTo>
                  <a:pt x="1552027" y="1270722"/>
                </a:lnTo>
                <a:lnTo>
                  <a:pt x="0" y="1270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147" y="2552070"/>
            <a:ext cx="8606089" cy="4518197"/>
          </a:xfrm>
          <a:custGeom>
            <a:avLst/>
            <a:gdLst/>
            <a:ahLst/>
            <a:cxnLst/>
            <a:rect r="r" b="b" t="t" l="l"/>
            <a:pathLst>
              <a:path h="4518197" w="8606089">
                <a:moveTo>
                  <a:pt x="0" y="0"/>
                </a:moveTo>
                <a:lnTo>
                  <a:pt x="8606089" y="0"/>
                </a:lnTo>
                <a:lnTo>
                  <a:pt x="8606089" y="4518197"/>
                </a:lnTo>
                <a:lnTo>
                  <a:pt x="0" y="4518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94087" y="2552070"/>
            <a:ext cx="8837923" cy="6053977"/>
          </a:xfrm>
          <a:custGeom>
            <a:avLst/>
            <a:gdLst/>
            <a:ahLst/>
            <a:cxnLst/>
            <a:rect r="r" b="b" t="t" l="l"/>
            <a:pathLst>
              <a:path h="6053977" w="8837923">
                <a:moveTo>
                  <a:pt x="0" y="0"/>
                </a:moveTo>
                <a:lnTo>
                  <a:pt x="8837923" y="0"/>
                </a:lnTo>
                <a:lnTo>
                  <a:pt x="8837923" y="6053977"/>
                </a:lnTo>
                <a:lnTo>
                  <a:pt x="0" y="60539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499830" y="605537"/>
            <a:ext cx="2393807" cy="93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1"/>
              </a:lnSpc>
            </a:pPr>
            <a:r>
              <a:rPr lang="en-US" sz="670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Costos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59672" y="-12779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4769" y="2569121"/>
            <a:ext cx="8559706" cy="5982248"/>
          </a:xfrm>
          <a:custGeom>
            <a:avLst/>
            <a:gdLst/>
            <a:ahLst/>
            <a:cxnLst/>
            <a:rect r="r" b="b" t="t" l="l"/>
            <a:pathLst>
              <a:path h="5982248" w="8559706">
                <a:moveTo>
                  <a:pt x="0" y="0"/>
                </a:moveTo>
                <a:lnTo>
                  <a:pt x="8559706" y="0"/>
                </a:lnTo>
                <a:lnTo>
                  <a:pt x="8559706" y="5982248"/>
                </a:lnTo>
                <a:lnTo>
                  <a:pt x="0" y="5982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87706" y="652201"/>
            <a:ext cx="11223775" cy="1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7"/>
              </a:lnSpc>
            </a:pPr>
            <a:r>
              <a:rPr lang="en-US" sz="8799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Métricas de pruebas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438479" y="2013109"/>
            <a:ext cx="7488456" cy="7871463"/>
          </a:xfrm>
          <a:custGeom>
            <a:avLst/>
            <a:gdLst/>
            <a:ahLst/>
            <a:cxnLst/>
            <a:rect r="r" b="b" t="t" l="l"/>
            <a:pathLst>
              <a:path h="7871463" w="7488456">
                <a:moveTo>
                  <a:pt x="0" y="0"/>
                </a:moveTo>
                <a:lnTo>
                  <a:pt x="7488456" y="0"/>
                </a:lnTo>
                <a:lnTo>
                  <a:pt x="7488456" y="7871463"/>
                </a:lnTo>
                <a:lnTo>
                  <a:pt x="0" y="7871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59266" y="7495874"/>
            <a:ext cx="2104395" cy="3111860"/>
          </a:xfrm>
          <a:custGeom>
            <a:avLst/>
            <a:gdLst/>
            <a:ahLst/>
            <a:cxnLst/>
            <a:rect r="r" b="b" t="t" l="l"/>
            <a:pathLst>
              <a:path h="3111860" w="2104395">
                <a:moveTo>
                  <a:pt x="0" y="0"/>
                </a:moveTo>
                <a:lnTo>
                  <a:pt x="2104395" y="0"/>
                </a:lnTo>
                <a:lnTo>
                  <a:pt x="2104395" y="3111859"/>
                </a:lnTo>
                <a:lnTo>
                  <a:pt x="0" y="31118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04706" y="5824054"/>
            <a:ext cx="1819508" cy="4777057"/>
          </a:xfrm>
          <a:custGeom>
            <a:avLst/>
            <a:gdLst/>
            <a:ahLst/>
            <a:cxnLst/>
            <a:rect r="r" b="b" t="t" l="l"/>
            <a:pathLst>
              <a:path h="4777057" w="1819508">
                <a:moveTo>
                  <a:pt x="1819508" y="0"/>
                </a:moveTo>
                <a:lnTo>
                  <a:pt x="0" y="0"/>
                </a:lnTo>
                <a:lnTo>
                  <a:pt x="0" y="4777057"/>
                </a:lnTo>
                <a:lnTo>
                  <a:pt x="1819508" y="4777057"/>
                </a:lnTo>
                <a:lnTo>
                  <a:pt x="1819508" y="0"/>
                </a:lnTo>
                <a:close/>
              </a:path>
            </a:pathLst>
          </a:custGeom>
          <a:blipFill>
            <a:blip r:embed="rId2"/>
            <a:stretch>
              <a:fillRect l="-334859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2644" y="8212583"/>
            <a:ext cx="2785356" cy="4118827"/>
          </a:xfrm>
          <a:custGeom>
            <a:avLst/>
            <a:gdLst/>
            <a:ahLst/>
            <a:cxnLst/>
            <a:rect r="r" b="b" t="t" l="l"/>
            <a:pathLst>
              <a:path h="4118827" w="2785356">
                <a:moveTo>
                  <a:pt x="0" y="0"/>
                </a:moveTo>
                <a:lnTo>
                  <a:pt x="2785356" y="0"/>
                </a:lnTo>
                <a:lnTo>
                  <a:pt x="2785356" y="4118826"/>
                </a:lnTo>
                <a:lnTo>
                  <a:pt x="0" y="4118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15908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05469" y="2332535"/>
            <a:ext cx="4722621" cy="2514971"/>
            <a:chOff x="0" y="0"/>
            <a:chExt cx="6296828" cy="33532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96828" cy="3353294"/>
            </a:xfrm>
            <a:custGeom>
              <a:avLst/>
              <a:gdLst/>
              <a:ahLst/>
              <a:cxnLst/>
              <a:rect r="r" b="b" t="t" l="l"/>
              <a:pathLst>
                <a:path h="3353294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353294"/>
                  </a:lnTo>
                  <a:lnTo>
                    <a:pt x="0" y="3353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18" r="0" b="-8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04232" y="437762"/>
              <a:ext cx="4888363" cy="2506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30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Manejo de cambios frecue</a:t>
              </a:r>
              <a:r>
                <a:rPr lang="en-US" sz="30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ntes: </a:t>
              </a: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Iteraciones cortas y trazabilidad de decisiones.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072092" y="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710004" y="2332535"/>
            <a:ext cx="4722621" cy="2556119"/>
            <a:chOff x="0" y="0"/>
            <a:chExt cx="6296828" cy="34081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68033" y="447287"/>
              <a:ext cx="3960761" cy="255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sz="32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Código fuente limpio</a:t>
              </a:r>
            </a:p>
            <a:p>
              <a:pPr algn="ctr">
                <a:lnSpc>
                  <a:spcPts val="2880"/>
                </a:lnSpc>
              </a:pP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Revisión y orden de carpetas y módulos.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66306" y="413475"/>
            <a:ext cx="12600946" cy="13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4"/>
              </a:lnSpc>
            </a:pPr>
            <a:r>
              <a:rPr lang="en-US" sz="9744">
                <a:solidFill>
                  <a:srgbClr val="4D5C57"/>
                </a:solidFill>
                <a:latin typeface="Bryndan Write"/>
                <a:ea typeface="Bryndan Write"/>
                <a:cs typeface="Bryndan Write"/>
                <a:sym typeface="Bryndan Write"/>
              </a:rPr>
              <a:t>Lecciones aprendidas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56939" y="2332535"/>
            <a:ext cx="4722621" cy="2556119"/>
            <a:chOff x="0" y="0"/>
            <a:chExt cx="6296828" cy="34081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91241" y="701287"/>
              <a:ext cx="5927138" cy="2043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2"/>
                </a:lnSpc>
              </a:pPr>
              <a:r>
                <a:rPr lang="en-US" sz="32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Organización del equipo</a:t>
              </a:r>
            </a:p>
            <a:p>
              <a:pPr algn="ctr">
                <a:lnSpc>
                  <a:spcPts val="2880"/>
                </a:lnSpc>
              </a:pPr>
              <a:r>
                <a:rPr lang="en-US" sz="30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Uso de Trello/GitHub, roles claros y reuniones periódicas.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4992" y="5656464"/>
            <a:ext cx="4722621" cy="2556119"/>
            <a:chOff x="0" y="0"/>
            <a:chExt cx="6296828" cy="3408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84845" y="524376"/>
              <a:ext cx="5927138" cy="2387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30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Interfaz atractiva y lúdica</a:t>
              </a:r>
            </a:p>
            <a:p>
              <a:pPr algn="ctr">
                <a:lnSpc>
                  <a:spcPts val="2688"/>
                </a:lnSpc>
              </a:pPr>
              <a:r>
                <a:rPr lang="en-US" sz="28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Gamificación con íconos, recompensas y microinteracciones.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53603" y="5664835"/>
            <a:ext cx="4722621" cy="2556119"/>
            <a:chOff x="0" y="0"/>
            <a:chExt cx="6296828" cy="34081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704232" y="524376"/>
              <a:ext cx="4888363" cy="2387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3000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Adaptación a cambios de alcance</a:t>
              </a:r>
            </a:p>
            <a:p>
              <a:pPr algn="ctr">
                <a:lnSpc>
                  <a:spcPts val="2688"/>
                </a:lnSpc>
              </a:pPr>
              <a:r>
                <a:rPr lang="en-US" sz="2800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Flexibilidad y ajustes en tareas y cronograma.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10004" y="5699663"/>
            <a:ext cx="4722621" cy="2556119"/>
            <a:chOff x="0" y="0"/>
            <a:chExt cx="6296828" cy="34081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96828" cy="3408158"/>
            </a:xfrm>
            <a:custGeom>
              <a:avLst/>
              <a:gdLst/>
              <a:ahLst/>
              <a:cxnLst/>
              <a:rect r="r" b="b" t="t" l="l"/>
              <a:pathLst>
                <a:path h="3408158" w="6296828">
                  <a:moveTo>
                    <a:pt x="0" y="0"/>
                  </a:moveTo>
                  <a:lnTo>
                    <a:pt x="6296828" y="0"/>
                  </a:lnTo>
                  <a:lnTo>
                    <a:pt x="6296828" y="3408158"/>
                  </a:lnTo>
                  <a:lnTo>
                    <a:pt x="0" y="3408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729606" y="504592"/>
              <a:ext cx="4837615" cy="2427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5"/>
                </a:lnSpc>
              </a:pPr>
              <a:r>
                <a:rPr lang="en-US" sz="2943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Brecha de conocimientos </a:t>
              </a:r>
              <a:r>
                <a:rPr lang="en-US" sz="2943" u="sng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en minijuegos</a:t>
              </a:r>
            </a:p>
            <a:p>
              <a:pPr algn="ctr">
                <a:lnSpc>
                  <a:spcPts val="2825"/>
                </a:lnSpc>
              </a:pPr>
              <a:r>
                <a:rPr lang="en-US" sz="2943">
                  <a:solidFill>
                    <a:srgbClr val="4D5C57"/>
                  </a:solidFill>
                  <a:latin typeface="Bryndan Write"/>
                  <a:ea typeface="Bryndan Write"/>
                  <a:cs typeface="Bryndan Write"/>
                  <a:sym typeface="Bryndan Write"/>
                </a:rPr>
                <a:t>Plan de aprendizaje y micro-prototipos.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8372" y="1935357"/>
            <a:ext cx="11080422" cy="5997279"/>
          </a:xfrm>
          <a:custGeom>
            <a:avLst/>
            <a:gdLst/>
            <a:ahLst/>
            <a:cxnLst/>
            <a:rect r="r" b="b" t="t" l="l"/>
            <a:pathLst>
              <a:path h="5997279" w="11080422">
                <a:moveTo>
                  <a:pt x="0" y="0"/>
                </a:moveTo>
                <a:lnTo>
                  <a:pt x="11080423" y="0"/>
                </a:lnTo>
                <a:lnTo>
                  <a:pt x="11080423" y="5997279"/>
                </a:lnTo>
                <a:lnTo>
                  <a:pt x="0" y="599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0050" y="8811114"/>
            <a:ext cx="20637059" cy="3086100"/>
            <a:chOff x="0" y="0"/>
            <a:chExt cx="543527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35275" cy="812800"/>
            </a:xfrm>
            <a:custGeom>
              <a:avLst/>
              <a:gdLst/>
              <a:ahLst/>
              <a:cxnLst/>
              <a:rect r="r" b="b" t="t" l="l"/>
              <a:pathLst>
                <a:path h="812800" w="5435275">
                  <a:moveTo>
                    <a:pt x="0" y="0"/>
                  </a:moveTo>
                  <a:lnTo>
                    <a:pt x="5435275" y="0"/>
                  </a:lnTo>
                  <a:lnTo>
                    <a:pt x="543527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DB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3527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276076" y="6078783"/>
            <a:ext cx="6166049" cy="5464661"/>
          </a:xfrm>
          <a:custGeom>
            <a:avLst/>
            <a:gdLst/>
            <a:ahLst/>
            <a:cxnLst/>
            <a:rect r="r" b="b" t="t" l="l"/>
            <a:pathLst>
              <a:path h="5464661" w="6166049">
                <a:moveTo>
                  <a:pt x="0" y="0"/>
                </a:moveTo>
                <a:lnTo>
                  <a:pt x="6166049" y="0"/>
                </a:lnTo>
                <a:lnTo>
                  <a:pt x="6166049" y="5464661"/>
                </a:lnTo>
                <a:lnTo>
                  <a:pt x="0" y="5464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187208" y="-614510"/>
            <a:ext cx="4431816" cy="4665069"/>
          </a:xfrm>
          <a:custGeom>
            <a:avLst/>
            <a:gdLst/>
            <a:ahLst/>
            <a:cxnLst/>
            <a:rect r="r" b="b" t="t" l="l"/>
            <a:pathLst>
              <a:path h="4665069" w="4431816">
                <a:moveTo>
                  <a:pt x="0" y="0"/>
                </a:moveTo>
                <a:lnTo>
                  <a:pt x="4431816" y="0"/>
                </a:lnTo>
                <a:lnTo>
                  <a:pt x="4431816" y="4665069"/>
                </a:lnTo>
                <a:lnTo>
                  <a:pt x="0" y="4665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735" y="1346399"/>
            <a:ext cx="3272360" cy="3966497"/>
          </a:xfrm>
          <a:custGeom>
            <a:avLst/>
            <a:gdLst/>
            <a:ahLst/>
            <a:cxnLst/>
            <a:rect r="r" b="b" t="t" l="l"/>
            <a:pathLst>
              <a:path h="3966497" w="3272360">
                <a:moveTo>
                  <a:pt x="0" y="0"/>
                </a:moveTo>
                <a:lnTo>
                  <a:pt x="3272359" y="0"/>
                </a:lnTo>
                <a:lnTo>
                  <a:pt x="3272359" y="3966496"/>
                </a:lnTo>
                <a:lnTo>
                  <a:pt x="0" y="396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932" y="6632028"/>
            <a:ext cx="6633407" cy="6675126"/>
          </a:xfrm>
          <a:custGeom>
            <a:avLst/>
            <a:gdLst/>
            <a:ahLst/>
            <a:cxnLst/>
            <a:rect r="r" b="b" t="t" l="l"/>
            <a:pathLst>
              <a:path h="6675126" w="6633407">
                <a:moveTo>
                  <a:pt x="0" y="0"/>
                </a:moveTo>
                <a:lnTo>
                  <a:pt x="6633406" y="0"/>
                </a:lnTo>
                <a:lnTo>
                  <a:pt x="6633406" y="6675126"/>
                </a:lnTo>
                <a:lnTo>
                  <a:pt x="0" y="667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14767" y="3272497"/>
            <a:ext cx="8607632" cy="295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0"/>
              </a:lnSpc>
            </a:pPr>
            <a:r>
              <a:rPr lang="en-US" sz="9748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Muchas </a:t>
            </a:r>
          </a:p>
          <a:p>
            <a:pPr algn="ctr">
              <a:lnSpc>
                <a:spcPts val="11210"/>
              </a:lnSpc>
            </a:pPr>
            <a:r>
              <a:rPr lang="en-US" sz="9748">
                <a:solidFill>
                  <a:srgbClr val="FFFFFF"/>
                </a:solidFill>
                <a:latin typeface="Bryndan Write"/>
                <a:ea typeface="Bryndan Write"/>
                <a:cs typeface="Bryndan Write"/>
                <a:sym typeface="Bryndan Write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DAG5SAtNPms</dc:identifier>
  <dcterms:modified xsi:type="dcterms:W3CDTF">2011-08-01T06:04:30Z</dcterms:modified>
  <cp:revision>1</cp:revision>
  <dc:title>presentacion</dc:title>
</cp:coreProperties>
</file>