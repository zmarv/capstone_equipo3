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ryndan Write" charset="1" panose="02000503000000000000"/>
      <p:regular r:id="rId21"/>
    </p:embeddedFont>
    <p:embeddedFont>
      <p:font typeface="Glacial Indifference" charset="1" panose="00000000000000000000"/>
      <p:regular r:id="rId22"/>
    </p:embeddedFont>
    <p:embeddedFont>
      <p:font typeface="อีฟดอวอิ้ง" charset="1" panose="00000000000000000000"/>
      <p:regular r:id="rId23"/>
    </p:embeddedFont>
    <p:embeddedFont>
      <p:font typeface="Contrail One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8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6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8372" y="1935357"/>
            <a:ext cx="11080422" cy="5997279"/>
          </a:xfrm>
          <a:custGeom>
            <a:avLst/>
            <a:gdLst/>
            <a:ahLst/>
            <a:cxnLst/>
            <a:rect r="r" b="b" t="t" l="l"/>
            <a:pathLst>
              <a:path h="5997279" w="11080422">
                <a:moveTo>
                  <a:pt x="0" y="0"/>
                </a:moveTo>
                <a:lnTo>
                  <a:pt x="11080423" y="0"/>
                </a:lnTo>
                <a:lnTo>
                  <a:pt x="11080423" y="5997279"/>
                </a:lnTo>
                <a:lnTo>
                  <a:pt x="0" y="599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076" y="6078783"/>
            <a:ext cx="6166049" cy="5464661"/>
          </a:xfrm>
          <a:custGeom>
            <a:avLst/>
            <a:gdLst/>
            <a:ahLst/>
            <a:cxnLst/>
            <a:rect r="r" b="b" t="t" l="l"/>
            <a:pathLst>
              <a:path h="5464661" w="6166049">
                <a:moveTo>
                  <a:pt x="0" y="0"/>
                </a:moveTo>
                <a:lnTo>
                  <a:pt x="6166049" y="0"/>
                </a:lnTo>
                <a:lnTo>
                  <a:pt x="6166049" y="5464661"/>
                </a:lnTo>
                <a:lnTo>
                  <a:pt x="0" y="546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87208" y="-61451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6735" y="1346399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59" y="0"/>
                </a:lnTo>
                <a:lnTo>
                  <a:pt x="3272359" y="3966496"/>
                </a:lnTo>
                <a:lnTo>
                  <a:pt x="0" y="396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1932" y="6632028"/>
            <a:ext cx="6633407" cy="6675126"/>
          </a:xfrm>
          <a:custGeom>
            <a:avLst/>
            <a:gdLst/>
            <a:ahLst/>
            <a:cxnLst/>
            <a:rect r="r" b="b" t="t" l="l"/>
            <a:pathLst>
              <a:path h="6675126" w="6633407">
                <a:moveTo>
                  <a:pt x="0" y="0"/>
                </a:moveTo>
                <a:lnTo>
                  <a:pt x="6633406" y="0"/>
                </a:lnTo>
                <a:lnTo>
                  <a:pt x="6633406" y="6675126"/>
                </a:lnTo>
                <a:lnTo>
                  <a:pt x="0" y="667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32587" y="6059733"/>
            <a:ext cx="517199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Millarary Currihual</a:t>
            </a:r>
          </a:p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Millaray Ibarra</a:t>
            </a:r>
          </a:p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Antonia Rojas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28887" y="3783192"/>
            <a:ext cx="7593044" cy="192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2"/>
              </a:lnSpc>
            </a:pPr>
            <a:r>
              <a:rPr lang="en-US" sz="14764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LevelUp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5010" y="917561"/>
            <a:ext cx="9328581" cy="2470199"/>
            <a:chOff x="0" y="0"/>
            <a:chExt cx="12438107" cy="32935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91994"/>
              <a:ext cx="12438107" cy="1801605"/>
              <a:chOff x="0" y="0"/>
              <a:chExt cx="3041308" cy="44052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041309" cy="440520"/>
              </a:xfrm>
              <a:custGeom>
                <a:avLst/>
                <a:gdLst/>
                <a:ahLst/>
                <a:cxnLst/>
                <a:rect r="r" b="b" t="t" l="l"/>
                <a:pathLst>
                  <a:path h="440520" w="3041309">
                    <a:moveTo>
                      <a:pt x="67044" y="0"/>
                    </a:moveTo>
                    <a:lnTo>
                      <a:pt x="2974264" y="0"/>
                    </a:lnTo>
                    <a:cubicBezTo>
                      <a:pt x="3011292" y="0"/>
                      <a:pt x="3041309" y="30017"/>
                      <a:pt x="3041309" y="67044"/>
                    </a:cubicBezTo>
                    <a:lnTo>
                      <a:pt x="3041309" y="373476"/>
                    </a:lnTo>
                    <a:cubicBezTo>
                      <a:pt x="3041309" y="410503"/>
                      <a:pt x="3011292" y="440520"/>
                      <a:pt x="2974264" y="440520"/>
                    </a:cubicBezTo>
                    <a:lnTo>
                      <a:pt x="67044" y="440520"/>
                    </a:lnTo>
                    <a:cubicBezTo>
                      <a:pt x="30017" y="440520"/>
                      <a:pt x="0" y="410503"/>
                      <a:pt x="0" y="373476"/>
                    </a:cubicBezTo>
                    <a:lnTo>
                      <a:pt x="0" y="67044"/>
                    </a:lnTo>
                    <a:cubicBezTo>
                      <a:pt x="0" y="30017"/>
                      <a:pt x="30017" y="0"/>
                      <a:pt x="67044" y="0"/>
                    </a:cubicBezTo>
                    <a:close/>
                  </a:path>
                </a:pathLst>
              </a:custGeom>
              <a:solidFill>
                <a:srgbClr val="FFFDB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041308" cy="4786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178069" y="0"/>
              <a:ext cx="3599229" cy="2946869"/>
            </a:xfrm>
            <a:custGeom>
              <a:avLst/>
              <a:gdLst/>
              <a:ahLst/>
              <a:cxnLst/>
              <a:rect r="r" b="b" t="t" l="l"/>
              <a:pathLst>
                <a:path h="2946869" w="3599229">
                  <a:moveTo>
                    <a:pt x="0" y="0"/>
                  </a:moveTo>
                  <a:lnTo>
                    <a:pt x="3599229" y="0"/>
                  </a:lnTo>
                  <a:lnTo>
                    <a:pt x="3599229" y="2946869"/>
                  </a:lnTo>
                  <a:lnTo>
                    <a:pt x="0" y="2946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44918" y="6460154"/>
            <a:ext cx="7678881" cy="279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8"/>
              </a:lnSpc>
            </a:pPr>
            <a:r>
              <a:rPr lang="en-US" sz="2691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LevelUp es una aplicación web diseñada para complementar el trabajo en el aula y reforzar los aprendizajes de estudiantes de educación básica. Su objetivo es ofrecer un espacio digital interactivo y motivador donde los contenidos escolares puedan ser repasados de forma práctica y dinámica.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27187" y="993761"/>
            <a:ext cx="3838718" cy="9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4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0582" y="2410305"/>
            <a:ext cx="8154336" cy="263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educación básica, los estudiantes aprendían a ritmos distintos, lo que podía generar brechas y desmotivación. Se necesitaban recursos adicionales y dinámicos para reforzar el aprendizaje, y herramientas que permitieran a los docentes seguir el progreso, favoreciendo una educación más inclusiva y efectiva.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5000" y="4332901"/>
            <a:ext cx="3838718" cy="9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64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Solución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673752" y="5884345"/>
            <a:ext cx="4279788" cy="4306902"/>
          </a:xfrm>
          <a:custGeom>
            <a:avLst/>
            <a:gdLst/>
            <a:ahLst/>
            <a:cxnLst/>
            <a:rect r="r" b="b" t="t" l="l"/>
            <a:pathLst>
              <a:path h="4306902" w="4279788">
                <a:moveTo>
                  <a:pt x="0" y="0"/>
                </a:moveTo>
                <a:lnTo>
                  <a:pt x="4279788" y="0"/>
                </a:lnTo>
                <a:lnTo>
                  <a:pt x="4279788" y="4306902"/>
                </a:lnTo>
                <a:lnTo>
                  <a:pt x="0" y="4306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9757" y="5143500"/>
            <a:ext cx="7698054" cy="7746824"/>
          </a:xfrm>
          <a:custGeom>
            <a:avLst/>
            <a:gdLst/>
            <a:ahLst/>
            <a:cxnLst/>
            <a:rect r="r" b="b" t="t" l="l"/>
            <a:pathLst>
              <a:path h="7746824" w="7698054">
                <a:moveTo>
                  <a:pt x="0" y="0"/>
                </a:moveTo>
                <a:lnTo>
                  <a:pt x="7698054" y="0"/>
                </a:lnTo>
                <a:lnTo>
                  <a:pt x="7698054" y="7746824"/>
                </a:lnTo>
                <a:lnTo>
                  <a:pt x="0" y="774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-111703"/>
            <a:ext cx="6566105" cy="4604481"/>
          </a:xfrm>
          <a:custGeom>
            <a:avLst/>
            <a:gdLst/>
            <a:ahLst/>
            <a:cxnLst/>
            <a:rect r="r" b="b" t="t" l="l"/>
            <a:pathLst>
              <a:path h="4604481" w="6566105">
                <a:moveTo>
                  <a:pt x="0" y="0"/>
                </a:moveTo>
                <a:lnTo>
                  <a:pt x="6566105" y="0"/>
                </a:lnTo>
                <a:lnTo>
                  <a:pt x="6566105" y="4604481"/>
                </a:lnTo>
                <a:lnTo>
                  <a:pt x="0" y="4604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51484" y="8081116"/>
            <a:ext cx="2580632" cy="2112893"/>
          </a:xfrm>
          <a:custGeom>
            <a:avLst/>
            <a:gdLst/>
            <a:ahLst/>
            <a:cxnLst/>
            <a:rect r="r" b="b" t="t" l="l"/>
            <a:pathLst>
              <a:path h="2112893" w="2580632">
                <a:moveTo>
                  <a:pt x="0" y="0"/>
                </a:moveTo>
                <a:lnTo>
                  <a:pt x="2580632" y="0"/>
                </a:lnTo>
                <a:lnTo>
                  <a:pt x="2580632" y="2112893"/>
                </a:lnTo>
                <a:lnTo>
                  <a:pt x="0" y="2112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64457" y="3806810"/>
            <a:ext cx="8259393" cy="318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Este problema afectaba a estudiantes de educación básica, quienes enfrentaban dificultades de concentración, distintos ritmos de aprendizaje y poca disponibilidad de recursos dinámicos, lo que generaba frustración y desmotivación.</a:t>
            </a:r>
          </a:p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Ellos preferían actividades entretenidas y accesibles que hicieran el aprendizaje más dinámico y motivador.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17774" y="1358732"/>
            <a:ext cx="8065967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Beneficiarios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4706" y="6977723"/>
            <a:ext cx="1380093" cy="3623388"/>
          </a:xfrm>
          <a:custGeom>
            <a:avLst/>
            <a:gdLst/>
            <a:ahLst/>
            <a:cxnLst/>
            <a:rect r="r" b="b" t="t" l="l"/>
            <a:pathLst>
              <a:path h="3623388" w="1380093">
                <a:moveTo>
                  <a:pt x="1380093" y="0"/>
                </a:moveTo>
                <a:lnTo>
                  <a:pt x="0" y="0"/>
                </a:lnTo>
                <a:lnTo>
                  <a:pt x="0" y="3623388"/>
                </a:lnTo>
                <a:lnTo>
                  <a:pt x="1380093" y="3623388"/>
                </a:lnTo>
                <a:lnTo>
                  <a:pt x="1380093" y="0"/>
                </a:lnTo>
                <a:close/>
              </a:path>
            </a:pathLst>
          </a:custGeom>
          <a:blipFill>
            <a:blip r:embed="rId2"/>
            <a:stretch>
              <a:fillRect l="-334859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67252" y="8603871"/>
            <a:ext cx="2520748" cy="3727539"/>
          </a:xfrm>
          <a:custGeom>
            <a:avLst/>
            <a:gdLst/>
            <a:ahLst/>
            <a:cxnLst/>
            <a:rect r="r" b="b" t="t" l="l"/>
            <a:pathLst>
              <a:path h="3727539" w="2520748">
                <a:moveTo>
                  <a:pt x="0" y="0"/>
                </a:moveTo>
                <a:lnTo>
                  <a:pt x="2520748" y="0"/>
                </a:lnTo>
                <a:lnTo>
                  <a:pt x="2520748" y="3727538"/>
                </a:lnTo>
                <a:lnTo>
                  <a:pt x="0" y="3727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15284" y="0"/>
            <a:ext cx="3830569" cy="4032177"/>
          </a:xfrm>
          <a:custGeom>
            <a:avLst/>
            <a:gdLst/>
            <a:ahLst/>
            <a:cxnLst/>
            <a:rect r="r" b="b" t="t" l="l"/>
            <a:pathLst>
              <a:path h="4032177" w="3830569">
                <a:moveTo>
                  <a:pt x="0" y="0"/>
                </a:moveTo>
                <a:lnTo>
                  <a:pt x="3830568" y="0"/>
                </a:lnTo>
                <a:lnTo>
                  <a:pt x="3830568" y="4032177"/>
                </a:lnTo>
                <a:lnTo>
                  <a:pt x="0" y="403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3339" y="0"/>
            <a:ext cx="3830569" cy="4032177"/>
          </a:xfrm>
          <a:custGeom>
            <a:avLst/>
            <a:gdLst/>
            <a:ahLst/>
            <a:cxnLst/>
            <a:rect r="r" b="b" t="t" l="l"/>
            <a:pathLst>
              <a:path h="4032177" w="3830569">
                <a:moveTo>
                  <a:pt x="0" y="0"/>
                </a:moveTo>
                <a:lnTo>
                  <a:pt x="3830569" y="0"/>
                </a:lnTo>
                <a:lnTo>
                  <a:pt x="3830569" y="4032177"/>
                </a:lnTo>
                <a:lnTo>
                  <a:pt x="0" y="403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66306" y="413475"/>
            <a:ext cx="12600946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Requerimientos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62117" y="7532130"/>
            <a:ext cx="6083908" cy="720317"/>
            <a:chOff x="0" y="0"/>
            <a:chExt cx="1843872" cy="218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3872" cy="218309"/>
            </a:xfrm>
            <a:custGeom>
              <a:avLst/>
              <a:gdLst/>
              <a:ahLst/>
              <a:cxnLst/>
              <a:rect r="r" b="b" t="t" l="l"/>
              <a:pathLst>
                <a:path h="218309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18309"/>
                  </a:lnTo>
                  <a:lnTo>
                    <a:pt x="0" y="218309"/>
                  </a:lnTo>
                  <a:close/>
                </a:path>
              </a:pathLst>
            </a:custGeom>
            <a:solidFill>
              <a:srgbClr val="E9BE9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843872" cy="323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Registro y autenticación de usuarios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587533" y="4375717"/>
            <a:ext cx="6083908" cy="763977"/>
            <a:chOff x="0" y="0"/>
            <a:chExt cx="1843872" cy="2315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3872" cy="231541"/>
            </a:xfrm>
            <a:custGeom>
              <a:avLst/>
              <a:gdLst/>
              <a:ahLst/>
              <a:cxnLst/>
              <a:rect r="r" b="b" t="t" l="l"/>
              <a:pathLst>
                <a:path h="231541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A0BB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843872" cy="3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Gestión de perfiles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87533" y="7488470"/>
            <a:ext cx="6083908" cy="763977"/>
            <a:chOff x="0" y="0"/>
            <a:chExt cx="1843872" cy="2315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3872" cy="231541"/>
            </a:xfrm>
            <a:custGeom>
              <a:avLst/>
              <a:gdLst/>
              <a:ahLst/>
              <a:cxnLst/>
              <a:rect r="r" b="b" t="t" l="l"/>
              <a:pathLst>
                <a:path h="231541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A0BB9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843872" cy="3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Realizar actividades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62117" y="5933918"/>
            <a:ext cx="6083908" cy="763977"/>
            <a:chOff x="0" y="0"/>
            <a:chExt cx="1843872" cy="2315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3872" cy="231541"/>
            </a:xfrm>
            <a:custGeom>
              <a:avLst/>
              <a:gdLst/>
              <a:ahLst/>
              <a:cxnLst/>
              <a:rect r="r" b="b" t="t" l="l"/>
              <a:pathLst>
                <a:path h="231541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A0BB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843872" cy="3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Interfaz intuitiva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62117" y="4315142"/>
            <a:ext cx="6083908" cy="780576"/>
            <a:chOff x="0" y="0"/>
            <a:chExt cx="1843872" cy="2365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43872" cy="236572"/>
            </a:xfrm>
            <a:custGeom>
              <a:avLst/>
              <a:gdLst/>
              <a:ahLst/>
              <a:cxnLst/>
              <a:rect r="r" b="b" t="t" l="l"/>
              <a:pathLst>
                <a:path h="236572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6572"/>
                  </a:lnTo>
                  <a:lnTo>
                    <a:pt x="0" y="236572"/>
                  </a:lnTo>
                  <a:close/>
                </a:path>
              </a:pathLst>
            </a:custGeom>
            <a:solidFill>
              <a:srgbClr val="E9BE9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843872" cy="341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Sistema de recompensa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587533" y="5933918"/>
            <a:ext cx="6083908" cy="763977"/>
            <a:chOff x="0" y="0"/>
            <a:chExt cx="1843872" cy="2315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43872" cy="231541"/>
            </a:xfrm>
            <a:custGeom>
              <a:avLst/>
              <a:gdLst/>
              <a:ahLst/>
              <a:cxnLst/>
              <a:rect r="r" b="b" t="t" l="l"/>
              <a:pathLst>
                <a:path h="231541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231541"/>
                  </a:lnTo>
                  <a:lnTo>
                    <a:pt x="0" y="231541"/>
                  </a:lnTo>
                  <a:close/>
                </a:path>
              </a:pathLst>
            </a:custGeom>
            <a:solidFill>
              <a:srgbClr val="E9BE9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1843872" cy="336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Escalabilidad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62117" y="2497376"/>
            <a:ext cx="6083908" cy="1148715"/>
            <a:chOff x="0" y="0"/>
            <a:chExt cx="1843872" cy="3481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43872" cy="348145"/>
            </a:xfrm>
            <a:custGeom>
              <a:avLst/>
              <a:gdLst/>
              <a:ahLst/>
              <a:cxnLst/>
              <a:rect r="r" b="b" t="t" l="l"/>
              <a:pathLst>
                <a:path h="348145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348145"/>
                  </a:lnTo>
                  <a:lnTo>
                    <a:pt x="0" y="348145"/>
                  </a:lnTo>
                  <a:close/>
                </a:path>
              </a:pathLst>
            </a:custGeom>
            <a:solidFill>
              <a:srgbClr val="A0BB9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1843872" cy="45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Creación, edición y eliminación de actividades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587533" y="2497376"/>
            <a:ext cx="6083908" cy="1148715"/>
            <a:chOff x="0" y="0"/>
            <a:chExt cx="1843872" cy="3481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43872" cy="348145"/>
            </a:xfrm>
            <a:custGeom>
              <a:avLst/>
              <a:gdLst/>
              <a:ahLst/>
              <a:cxnLst/>
              <a:rect r="r" b="b" t="t" l="l"/>
              <a:pathLst>
                <a:path h="348145" w="1843872">
                  <a:moveTo>
                    <a:pt x="0" y="0"/>
                  </a:moveTo>
                  <a:lnTo>
                    <a:pt x="1843872" y="0"/>
                  </a:lnTo>
                  <a:lnTo>
                    <a:pt x="1843872" y="348145"/>
                  </a:lnTo>
                  <a:lnTo>
                    <a:pt x="0" y="348145"/>
                  </a:lnTo>
                  <a:close/>
                </a:path>
              </a:pathLst>
            </a:custGeom>
            <a:solidFill>
              <a:srgbClr val="E9BE9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1843872" cy="45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Gestión de cursos, asignaturas, matrículas y asignaciones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71956" y="5143500"/>
            <a:ext cx="7698054" cy="7746824"/>
          </a:xfrm>
          <a:custGeom>
            <a:avLst/>
            <a:gdLst/>
            <a:ahLst/>
            <a:cxnLst/>
            <a:rect r="r" b="b" t="t" l="l"/>
            <a:pathLst>
              <a:path h="7746824" w="7698054">
                <a:moveTo>
                  <a:pt x="0" y="0"/>
                </a:moveTo>
                <a:lnTo>
                  <a:pt x="7698054" y="0"/>
                </a:lnTo>
                <a:lnTo>
                  <a:pt x="7698054" y="7746824"/>
                </a:lnTo>
                <a:lnTo>
                  <a:pt x="0" y="774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5824" y="4088695"/>
            <a:ext cx="8259393" cy="22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desarrollo del proyecto se llevó a cabo bajo un enfoque tradicional de cascada, el cual dividió el proceso en fases secuenciales bien definidas. Este enfoque permitió una planificación estructurada y un control riguroso del avance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5824" y="1849867"/>
            <a:ext cx="8065967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Metodología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111518" y="582202"/>
            <a:ext cx="4109992" cy="3765780"/>
          </a:xfrm>
          <a:custGeom>
            <a:avLst/>
            <a:gdLst/>
            <a:ahLst/>
            <a:cxnLst/>
            <a:rect r="r" b="b" t="t" l="l"/>
            <a:pathLst>
              <a:path h="3765780" w="4109992">
                <a:moveTo>
                  <a:pt x="0" y="0"/>
                </a:moveTo>
                <a:lnTo>
                  <a:pt x="4109992" y="0"/>
                </a:lnTo>
                <a:lnTo>
                  <a:pt x="4109992" y="3765780"/>
                </a:lnTo>
                <a:lnTo>
                  <a:pt x="0" y="3765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4299" y="6967805"/>
            <a:ext cx="2549170" cy="3034726"/>
          </a:xfrm>
          <a:custGeom>
            <a:avLst/>
            <a:gdLst/>
            <a:ahLst/>
            <a:cxnLst/>
            <a:rect r="r" b="b" t="t" l="l"/>
            <a:pathLst>
              <a:path h="3034726" w="2549170">
                <a:moveTo>
                  <a:pt x="0" y="0"/>
                </a:moveTo>
                <a:lnTo>
                  <a:pt x="2549170" y="0"/>
                </a:lnTo>
                <a:lnTo>
                  <a:pt x="2549170" y="3034726"/>
                </a:lnTo>
                <a:lnTo>
                  <a:pt x="0" y="303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26087" y="1345054"/>
            <a:ext cx="14035827" cy="7596891"/>
          </a:xfrm>
          <a:custGeom>
            <a:avLst/>
            <a:gdLst/>
            <a:ahLst/>
            <a:cxnLst/>
            <a:rect r="r" b="b" t="t" l="l"/>
            <a:pathLst>
              <a:path h="7596891" w="14035827">
                <a:moveTo>
                  <a:pt x="0" y="0"/>
                </a:moveTo>
                <a:lnTo>
                  <a:pt x="14035826" y="0"/>
                </a:lnTo>
                <a:lnTo>
                  <a:pt x="14035826" y="7596892"/>
                </a:lnTo>
                <a:lnTo>
                  <a:pt x="0" y="75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37140" y="8811114"/>
            <a:ext cx="1647020" cy="2435520"/>
          </a:xfrm>
          <a:custGeom>
            <a:avLst/>
            <a:gdLst/>
            <a:ahLst/>
            <a:cxnLst/>
            <a:rect r="r" b="b" t="t" l="l"/>
            <a:pathLst>
              <a:path h="2435520" w="1647020">
                <a:moveTo>
                  <a:pt x="0" y="0"/>
                </a:moveTo>
                <a:lnTo>
                  <a:pt x="1647021" y="0"/>
                </a:lnTo>
                <a:lnTo>
                  <a:pt x="1647021" y="2435520"/>
                </a:lnTo>
                <a:lnTo>
                  <a:pt x="0" y="243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349546" y="6275589"/>
            <a:ext cx="1819508" cy="4777057"/>
          </a:xfrm>
          <a:custGeom>
            <a:avLst/>
            <a:gdLst/>
            <a:ahLst/>
            <a:cxnLst/>
            <a:rect r="r" b="b" t="t" l="l"/>
            <a:pathLst>
              <a:path h="4777057" w="1819508">
                <a:moveTo>
                  <a:pt x="1819508" y="0"/>
                </a:moveTo>
                <a:lnTo>
                  <a:pt x="0" y="0"/>
                </a:lnTo>
                <a:lnTo>
                  <a:pt x="0" y="4777057"/>
                </a:lnTo>
                <a:lnTo>
                  <a:pt x="1819508" y="4777057"/>
                </a:lnTo>
                <a:lnTo>
                  <a:pt x="1819508" y="0"/>
                </a:lnTo>
                <a:close/>
              </a:path>
            </a:pathLst>
          </a:custGeom>
          <a:blipFill>
            <a:blip r:embed="rId4"/>
            <a:stretch>
              <a:fillRect l="-334859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84553" y="2221689"/>
            <a:ext cx="10599476" cy="5839114"/>
          </a:xfrm>
          <a:custGeom>
            <a:avLst/>
            <a:gdLst/>
            <a:ahLst/>
            <a:cxnLst/>
            <a:rect r="r" b="b" t="t" l="l"/>
            <a:pathLst>
              <a:path h="5839114" w="10599476">
                <a:moveTo>
                  <a:pt x="0" y="0"/>
                </a:moveTo>
                <a:lnTo>
                  <a:pt x="10599475" y="0"/>
                </a:lnTo>
                <a:lnTo>
                  <a:pt x="10599475" y="5839113"/>
                </a:lnTo>
                <a:lnTo>
                  <a:pt x="0" y="58391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66370" y="117102"/>
            <a:ext cx="7102536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Arquitectura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1224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0" y="7637642"/>
            <a:ext cx="1006831" cy="2643400"/>
          </a:xfrm>
          <a:custGeom>
            <a:avLst/>
            <a:gdLst/>
            <a:ahLst/>
            <a:cxnLst/>
            <a:rect r="r" b="b" t="t" l="l"/>
            <a:pathLst>
              <a:path h="2643400" w="1006831">
                <a:moveTo>
                  <a:pt x="1006831" y="0"/>
                </a:moveTo>
                <a:lnTo>
                  <a:pt x="0" y="0"/>
                </a:lnTo>
                <a:lnTo>
                  <a:pt x="0" y="2643399"/>
                </a:lnTo>
                <a:lnTo>
                  <a:pt x="1006831" y="2643399"/>
                </a:lnTo>
                <a:lnTo>
                  <a:pt x="1006831" y="0"/>
                </a:lnTo>
                <a:close/>
              </a:path>
            </a:pathLst>
          </a:custGeom>
          <a:blipFill>
            <a:blip r:embed="rId3"/>
            <a:stretch>
              <a:fillRect l="-334859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12368" y="1582488"/>
            <a:ext cx="11863265" cy="8363601"/>
          </a:xfrm>
          <a:custGeom>
            <a:avLst/>
            <a:gdLst/>
            <a:ahLst/>
            <a:cxnLst/>
            <a:rect r="r" b="b" t="t" l="l"/>
            <a:pathLst>
              <a:path h="8363601" w="11863265">
                <a:moveTo>
                  <a:pt x="0" y="0"/>
                </a:moveTo>
                <a:lnTo>
                  <a:pt x="11863264" y="0"/>
                </a:lnTo>
                <a:lnTo>
                  <a:pt x="11863264" y="8363602"/>
                </a:lnTo>
                <a:lnTo>
                  <a:pt x="0" y="836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12368" y="607360"/>
            <a:ext cx="10957119" cy="92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1"/>
              </a:lnSpc>
            </a:pPr>
            <a:r>
              <a:rPr lang="en-US" sz="670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Diagrama de base de datos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1224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0" y="7637642"/>
            <a:ext cx="1006831" cy="2643400"/>
          </a:xfrm>
          <a:custGeom>
            <a:avLst/>
            <a:gdLst/>
            <a:ahLst/>
            <a:cxnLst/>
            <a:rect r="r" b="b" t="t" l="l"/>
            <a:pathLst>
              <a:path h="2643400" w="1006831">
                <a:moveTo>
                  <a:pt x="1006831" y="0"/>
                </a:moveTo>
                <a:lnTo>
                  <a:pt x="0" y="0"/>
                </a:lnTo>
                <a:lnTo>
                  <a:pt x="0" y="2643399"/>
                </a:lnTo>
                <a:lnTo>
                  <a:pt x="1006831" y="2643399"/>
                </a:lnTo>
                <a:lnTo>
                  <a:pt x="1006831" y="0"/>
                </a:lnTo>
                <a:close/>
              </a:path>
            </a:pathLst>
          </a:custGeom>
          <a:blipFill>
            <a:blip r:embed="rId3"/>
            <a:stretch>
              <a:fillRect l="-334859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480445" y="676991"/>
            <a:ext cx="9328581" cy="1351204"/>
            <a:chOff x="0" y="0"/>
            <a:chExt cx="3041308" cy="440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1309" cy="440520"/>
            </a:xfrm>
            <a:custGeom>
              <a:avLst/>
              <a:gdLst/>
              <a:ahLst/>
              <a:cxnLst/>
              <a:rect r="r" b="b" t="t" l="l"/>
              <a:pathLst>
                <a:path h="440520" w="3041309">
                  <a:moveTo>
                    <a:pt x="82991" y="0"/>
                  </a:moveTo>
                  <a:lnTo>
                    <a:pt x="2958317" y="0"/>
                  </a:lnTo>
                  <a:cubicBezTo>
                    <a:pt x="3004152" y="0"/>
                    <a:pt x="3041309" y="37157"/>
                    <a:pt x="3041309" y="82991"/>
                  </a:cubicBezTo>
                  <a:lnTo>
                    <a:pt x="3041309" y="357529"/>
                  </a:lnTo>
                  <a:cubicBezTo>
                    <a:pt x="3041309" y="403364"/>
                    <a:pt x="3004152" y="440520"/>
                    <a:pt x="2958317" y="440520"/>
                  </a:cubicBezTo>
                  <a:lnTo>
                    <a:pt x="82991" y="440520"/>
                  </a:lnTo>
                  <a:cubicBezTo>
                    <a:pt x="37157" y="440520"/>
                    <a:pt x="0" y="403364"/>
                    <a:pt x="0" y="357529"/>
                  </a:cubicBezTo>
                  <a:lnTo>
                    <a:pt x="0" y="82991"/>
                  </a:lnTo>
                  <a:cubicBezTo>
                    <a:pt x="0" y="37157"/>
                    <a:pt x="37157" y="0"/>
                    <a:pt x="82991" y="0"/>
                  </a:cubicBez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41308" cy="478620"/>
            </a:xfrm>
            <a:prstGeom prst="rect">
              <a:avLst/>
            </a:prstGeom>
          </p:spPr>
          <p:txBody>
            <a:bodyPr anchor="ctr" rtlCol="false" tIns="41039" lIns="41039" bIns="41039" rIns="4103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19002" y="519812"/>
            <a:ext cx="1552027" cy="1270722"/>
          </a:xfrm>
          <a:custGeom>
            <a:avLst/>
            <a:gdLst/>
            <a:ahLst/>
            <a:cxnLst/>
            <a:rect r="r" b="b" t="t" l="l"/>
            <a:pathLst>
              <a:path h="1270722" w="1552027">
                <a:moveTo>
                  <a:pt x="0" y="0"/>
                </a:moveTo>
                <a:lnTo>
                  <a:pt x="1552027" y="0"/>
                </a:lnTo>
                <a:lnTo>
                  <a:pt x="1552027" y="1270722"/>
                </a:lnTo>
                <a:lnTo>
                  <a:pt x="0" y="1270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99220" y="19773"/>
            <a:ext cx="4609614" cy="10300814"/>
          </a:xfrm>
          <a:custGeom>
            <a:avLst/>
            <a:gdLst/>
            <a:ahLst/>
            <a:cxnLst/>
            <a:rect r="r" b="b" t="t" l="l"/>
            <a:pathLst>
              <a:path h="10300814" w="4609614">
                <a:moveTo>
                  <a:pt x="0" y="0"/>
                </a:moveTo>
                <a:lnTo>
                  <a:pt x="4609615" y="0"/>
                </a:lnTo>
                <a:lnTo>
                  <a:pt x="4609615" y="10300813"/>
                </a:lnTo>
                <a:lnTo>
                  <a:pt x="0" y="1030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6831" y="3405470"/>
            <a:ext cx="3456537" cy="173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1"/>
              </a:lnSpc>
            </a:pPr>
            <a:r>
              <a:rPr lang="en-US" sz="670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Casos de usos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3352" y="494134"/>
            <a:ext cx="6276901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Tecnologías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9111" y="7461309"/>
            <a:ext cx="2102953" cy="2503515"/>
          </a:xfrm>
          <a:custGeom>
            <a:avLst/>
            <a:gdLst/>
            <a:ahLst/>
            <a:cxnLst/>
            <a:rect r="r" b="b" t="t" l="l"/>
            <a:pathLst>
              <a:path h="2503515" w="2102953">
                <a:moveTo>
                  <a:pt x="0" y="0"/>
                </a:moveTo>
                <a:lnTo>
                  <a:pt x="2102953" y="0"/>
                </a:lnTo>
                <a:lnTo>
                  <a:pt x="2102953" y="2503515"/>
                </a:lnTo>
                <a:lnTo>
                  <a:pt x="0" y="2503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58705" y="2761064"/>
            <a:ext cx="4014749" cy="2107491"/>
            <a:chOff x="0" y="0"/>
            <a:chExt cx="5352999" cy="280998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447690"/>
              <a:ext cx="5352999" cy="2362298"/>
              <a:chOff x="0" y="0"/>
              <a:chExt cx="1307705" cy="57709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07705" cy="577095"/>
              </a:xfrm>
              <a:custGeom>
                <a:avLst/>
                <a:gdLst/>
                <a:ahLst/>
                <a:cxnLst/>
                <a:rect r="r" b="b" t="t" l="l"/>
                <a:pathLst>
                  <a:path h="577095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519244"/>
                    </a:lnTo>
                    <a:cubicBezTo>
                      <a:pt x="1307705" y="551194"/>
                      <a:pt x="1281804" y="577095"/>
                      <a:pt x="1249854" y="577095"/>
                    </a:cubicBezTo>
                    <a:lnTo>
                      <a:pt x="57851" y="577095"/>
                    </a:lnTo>
                    <a:cubicBezTo>
                      <a:pt x="42508" y="577095"/>
                      <a:pt x="27793" y="571000"/>
                      <a:pt x="16944" y="560151"/>
                    </a:cubicBezTo>
                    <a:cubicBezTo>
                      <a:pt x="6095" y="549302"/>
                      <a:pt x="0" y="534587"/>
                      <a:pt x="0" y="519244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F1DECE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76200"/>
                <a:ext cx="1307705" cy="653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3577" y="1319673"/>
              <a:ext cx="4725845" cy="1184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Django (Python)</a:t>
              </a:r>
            </a:p>
            <a:p>
              <a:pPr algn="just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SQL (SQLite)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1193060" y="0"/>
              <a:ext cx="2966878" cy="895381"/>
              <a:chOff x="0" y="0"/>
              <a:chExt cx="674387" cy="20352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74387" cy="203525"/>
              </a:xfrm>
              <a:custGeom>
                <a:avLst/>
                <a:gdLst/>
                <a:ahLst/>
                <a:cxnLst/>
                <a:rect r="r" b="b" t="t" l="l"/>
                <a:pathLst>
                  <a:path h="203525" w="674387">
                    <a:moveTo>
                      <a:pt x="59148" y="0"/>
                    </a:moveTo>
                    <a:lnTo>
                      <a:pt x="615240" y="0"/>
                    </a:lnTo>
                    <a:cubicBezTo>
                      <a:pt x="630926" y="0"/>
                      <a:pt x="645971" y="6232"/>
                      <a:pt x="657063" y="17324"/>
                    </a:cubicBezTo>
                    <a:cubicBezTo>
                      <a:pt x="668155" y="28416"/>
                      <a:pt x="674387" y="43461"/>
                      <a:pt x="674387" y="59148"/>
                    </a:cubicBezTo>
                    <a:lnTo>
                      <a:pt x="674387" y="144377"/>
                    </a:lnTo>
                    <a:cubicBezTo>
                      <a:pt x="674387" y="160064"/>
                      <a:pt x="668155" y="175109"/>
                      <a:pt x="657063" y="186201"/>
                    </a:cubicBezTo>
                    <a:cubicBezTo>
                      <a:pt x="645971" y="197293"/>
                      <a:pt x="630926" y="203525"/>
                      <a:pt x="615240" y="203525"/>
                    </a:cubicBezTo>
                    <a:lnTo>
                      <a:pt x="59148" y="203525"/>
                    </a:lnTo>
                    <a:cubicBezTo>
                      <a:pt x="43461" y="203525"/>
                      <a:pt x="28416" y="197293"/>
                      <a:pt x="17324" y="186201"/>
                    </a:cubicBezTo>
                    <a:cubicBezTo>
                      <a:pt x="6232" y="175109"/>
                      <a:pt x="0" y="160064"/>
                      <a:pt x="0" y="144377"/>
                    </a:cubicBezTo>
                    <a:lnTo>
                      <a:pt x="0" y="59148"/>
                    </a:lnTo>
                    <a:cubicBezTo>
                      <a:pt x="0" y="43461"/>
                      <a:pt x="6232" y="28416"/>
                      <a:pt x="17324" y="17324"/>
                    </a:cubicBezTo>
                    <a:cubicBezTo>
                      <a:pt x="28416" y="6232"/>
                      <a:pt x="43461" y="0"/>
                      <a:pt x="59148" y="0"/>
                    </a:cubicBezTo>
                    <a:close/>
                  </a:path>
                </a:pathLst>
              </a:custGeom>
              <a:solidFill>
                <a:srgbClr val="E9BE9C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674387" cy="251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Back-end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3486992" y="6515574"/>
            <a:ext cx="4014749" cy="2745043"/>
            <a:chOff x="0" y="0"/>
            <a:chExt cx="5352999" cy="366005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447690"/>
              <a:ext cx="5352999" cy="3212366"/>
              <a:chOff x="0" y="0"/>
              <a:chExt cx="1307705" cy="78476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07705" cy="784761"/>
              </a:xfrm>
              <a:custGeom>
                <a:avLst/>
                <a:gdLst/>
                <a:ahLst/>
                <a:cxnLst/>
                <a:rect r="r" b="b" t="t" l="l"/>
                <a:pathLst>
                  <a:path h="784761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726910"/>
                    </a:lnTo>
                    <a:cubicBezTo>
                      <a:pt x="1307705" y="758861"/>
                      <a:pt x="1281804" y="784761"/>
                      <a:pt x="1249854" y="784761"/>
                    </a:cubicBezTo>
                    <a:lnTo>
                      <a:pt x="57851" y="784761"/>
                    </a:lnTo>
                    <a:cubicBezTo>
                      <a:pt x="42508" y="784761"/>
                      <a:pt x="27793" y="778666"/>
                      <a:pt x="16944" y="767817"/>
                    </a:cubicBezTo>
                    <a:cubicBezTo>
                      <a:pt x="6095" y="756968"/>
                      <a:pt x="0" y="742253"/>
                      <a:pt x="0" y="726910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C6D6B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76200"/>
                <a:ext cx="1307705" cy="8609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3577" y="1148999"/>
              <a:ext cx="5039422" cy="174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HTML, CSS y JavaScript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B</a:t>
              </a: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ootstrap 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1192691" y="0"/>
              <a:ext cx="2966878" cy="895381"/>
              <a:chOff x="0" y="0"/>
              <a:chExt cx="674387" cy="20352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74387" cy="203525"/>
              </a:xfrm>
              <a:custGeom>
                <a:avLst/>
                <a:gdLst/>
                <a:ahLst/>
                <a:cxnLst/>
                <a:rect r="r" b="b" t="t" l="l"/>
                <a:pathLst>
                  <a:path h="203525" w="674387">
                    <a:moveTo>
                      <a:pt x="59148" y="0"/>
                    </a:moveTo>
                    <a:lnTo>
                      <a:pt x="615240" y="0"/>
                    </a:lnTo>
                    <a:cubicBezTo>
                      <a:pt x="630926" y="0"/>
                      <a:pt x="645971" y="6232"/>
                      <a:pt x="657063" y="17324"/>
                    </a:cubicBezTo>
                    <a:cubicBezTo>
                      <a:pt x="668155" y="28416"/>
                      <a:pt x="674387" y="43461"/>
                      <a:pt x="674387" y="59148"/>
                    </a:cubicBezTo>
                    <a:lnTo>
                      <a:pt x="674387" y="144377"/>
                    </a:lnTo>
                    <a:cubicBezTo>
                      <a:pt x="674387" y="160064"/>
                      <a:pt x="668155" y="175109"/>
                      <a:pt x="657063" y="186201"/>
                    </a:cubicBezTo>
                    <a:cubicBezTo>
                      <a:pt x="645971" y="197293"/>
                      <a:pt x="630926" y="203525"/>
                      <a:pt x="615240" y="203525"/>
                    </a:cubicBezTo>
                    <a:lnTo>
                      <a:pt x="59148" y="203525"/>
                    </a:lnTo>
                    <a:cubicBezTo>
                      <a:pt x="43461" y="203525"/>
                      <a:pt x="28416" y="197293"/>
                      <a:pt x="17324" y="186201"/>
                    </a:cubicBezTo>
                    <a:cubicBezTo>
                      <a:pt x="6232" y="175109"/>
                      <a:pt x="0" y="160064"/>
                      <a:pt x="0" y="144377"/>
                    </a:cubicBezTo>
                    <a:lnTo>
                      <a:pt x="0" y="59148"/>
                    </a:lnTo>
                    <a:cubicBezTo>
                      <a:pt x="0" y="43461"/>
                      <a:pt x="6232" y="28416"/>
                      <a:pt x="17324" y="17324"/>
                    </a:cubicBezTo>
                    <a:cubicBezTo>
                      <a:pt x="28416" y="6232"/>
                      <a:pt x="43461" y="0"/>
                      <a:pt x="59148" y="0"/>
                    </a:cubicBezTo>
                    <a:close/>
                  </a:path>
                </a:pathLst>
              </a:custGeom>
              <a:solidFill>
                <a:srgbClr val="A0BB9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674387" cy="251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Front-end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2888867" y="2761064"/>
            <a:ext cx="4014749" cy="2228291"/>
            <a:chOff x="0" y="0"/>
            <a:chExt cx="5352999" cy="29710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355998"/>
              <a:ext cx="5352999" cy="2362298"/>
              <a:chOff x="0" y="0"/>
              <a:chExt cx="1307705" cy="5770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07705" cy="577095"/>
              </a:xfrm>
              <a:custGeom>
                <a:avLst/>
                <a:gdLst/>
                <a:ahLst/>
                <a:cxnLst/>
                <a:rect r="r" b="b" t="t" l="l"/>
                <a:pathLst>
                  <a:path h="577095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519244"/>
                    </a:lnTo>
                    <a:cubicBezTo>
                      <a:pt x="1307705" y="551194"/>
                      <a:pt x="1281804" y="577095"/>
                      <a:pt x="1249854" y="577095"/>
                    </a:cubicBezTo>
                    <a:lnTo>
                      <a:pt x="57851" y="577095"/>
                    </a:lnTo>
                    <a:cubicBezTo>
                      <a:pt x="42508" y="577095"/>
                      <a:pt x="27793" y="571000"/>
                      <a:pt x="16944" y="560151"/>
                    </a:cubicBezTo>
                    <a:cubicBezTo>
                      <a:pt x="6095" y="549302"/>
                      <a:pt x="0" y="534587"/>
                      <a:pt x="0" y="519244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F1DEC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76200"/>
                <a:ext cx="1307705" cy="653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6504" y="1227980"/>
              <a:ext cx="4725845" cy="174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Visual Studio Code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Git y GitHub</a:t>
              </a:r>
            </a:p>
            <a:p>
              <a:pPr algn="l">
                <a:lnSpc>
                  <a:spcPts val="3359"/>
                </a:lnSpc>
              </a:pP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577868" y="0"/>
              <a:ext cx="4159939" cy="895381"/>
              <a:chOff x="0" y="0"/>
              <a:chExt cx="945576" cy="20352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45576" cy="203525"/>
              </a:xfrm>
              <a:custGeom>
                <a:avLst/>
                <a:gdLst/>
                <a:ahLst/>
                <a:cxnLst/>
                <a:rect r="r" b="b" t="t" l="l"/>
                <a:pathLst>
                  <a:path h="203525" w="945576">
                    <a:moveTo>
                      <a:pt x="42184" y="0"/>
                    </a:moveTo>
                    <a:lnTo>
                      <a:pt x="903392" y="0"/>
                    </a:lnTo>
                    <a:cubicBezTo>
                      <a:pt x="914580" y="0"/>
                      <a:pt x="925309" y="4444"/>
                      <a:pt x="933220" y="12355"/>
                    </a:cubicBezTo>
                    <a:cubicBezTo>
                      <a:pt x="941132" y="20267"/>
                      <a:pt x="945576" y="30996"/>
                      <a:pt x="945576" y="42184"/>
                    </a:cubicBezTo>
                    <a:lnTo>
                      <a:pt x="945576" y="161341"/>
                    </a:lnTo>
                    <a:cubicBezTo>
                      <a:pt x="945576" y="184638"/>
                      <a:pt x="926689" y="203525"/>
                      <a:pt x="903392" y="203525"/>
                    </a:cubicBezTo>
                    <a:lnTo>
                      <a:pt x="42184" y="203525"/>
                    </a:lnTo>
                    <a:cubicBezTo>
                      <a:pt x="30996" y="203525"/>
                      <a:pt x="20267" y="199080"/>
                      <a:pt x="12355" y="191169"/>
                    </a:cubicBezTo>
                    <a:cubicBezTo>
                      <a:pt x="4444" y="183258"/>
                      <a:pt x="0" y="172529"/>
                      <a:pt x="0" y="161341"/>
                    </a:cubicBezTo>
                    <a:lnTo>
                      <a:pt x="0" y="42184"/>
                    </a:lnTo>
                    <a:cubicBezTo>
                      <a:pt x="0" y="30996"/>
                      <a:pt x="4444" y="20267"/>
                      <a:pt x="12355" y="12355"/>
                    </a:cubicBezTo>
                    <a:cubicBezTo>
                      <a:pt x="20267" y="4444"/>
                      <a:pt x="30996" y="0"/>
                      <a:pt x="42184" y="0"/>
                    </a:cubicBezTo>
                    <a:close/>
                  </a:path>
                </a:pathLst>
              </a:custGeom>
              <a:solidFill>
                <a:srgbClr val="E9BE9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945576" cy="251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Entorno de desarrollo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7326029" y="2727719"/>
            <a:ext cx="4014749" cy="2294981"/>
            <a:chOff x="0" y="0"/>
            <a:chExt cx="5352999" cy="3059974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697676"/>
              <a:ext cx="5352999" cy="2362298"/>
              <a:chOff x="0" y="0"/>
              <a:chExt cx="1307705" cy="57709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307705" cy="577095"/>
              </a:xfrm>
              <a:custGeom>
                <a:avLst/>
                <a:gdLst/>
                <a:ahLst/>
                <a:cxnLst/>
                <a:rect r="r" b="b" t="t" l="l"/>
                <a:pathLst>
                  <a:path h="577095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519244"/>
                    </a:lnTo>
                    <a:cubicBezTo>
                      <a:pt x="1307705" y="551194"/>
                      <a:pt x="1281804" y="577095"/>
                      <a:pt x="1249854" y="577095"/>
                    </a:cubicBezTo>
                    <a:lnTo>
                      <a:pt x="57851" y="577095"/>
                    </a:lnTo>
                    <a:cubicBezTo>
                      <a:pt x="42508" y="577095"/>
                      <a:pt x="27793" y="571000"/>
                      <a:pt x="16944" y="560151"/>
                    </a:cubicBezTo>
                    <a:cubicBezTo>
                      <a:pt x="6095" y="549302"/>
                      <a:pt x="0" y="534587"/>
                      <a:pt x="0" y="519244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C6D6B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76200"/>
                <a:ext cx="1307705" cy="6532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762127" y="1789522"/>
              <a:ext cx="2568699" cy="1184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Figma</a:t>
              </a:r>
            </a:p>
            <a:p>
              <a:pPr algn="just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Tiled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56789" y="0"/>
              <a:ext cx="5039422" cy="1395353"/>
              <a:chOff x="0" y="0"/>
              <a:chExt cx="1145487" cy="31717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145487" cy="317171"/>
              </a:xfrm>
              <a:custGeom>
                <a:avLst/>
                <a:gdLst/>
                <a:ahLst/>
                <a:cxnLst/>
                <a:rect r="r" b="b" t="t" l="l"/>
                <a:pathLst>
                  <a:path h="317171" w="1145487">
                    <a:moveTo>
                      <a:pt x="34822" y="0"/>
                    </a:moveTo>
                    <a:lnTo>
                      <a:pt x="1110665" y="0"/>
                    </a:lnTo>
                    <a:cubicBezTo>
                      <a:pt x="1119900" y="0"/>
                      <a:pt x="1128757" y="3669"/>
                      <a:pt x="1135288" y="10199"/>
                    </a:cubicBezTo>
                    <a:cubicBezTo>
                      <a:pt x="1141818" y="16730"/>
                      <a:pt x="1145487" y="25587"/>
                      <a:pt x="1145487" y="34822"/>
                    </a:cubicBezTo>
                    <a:lnTo>
                      <a:pt x="1145487" y="282349"/>
                    </a:lnTo>
                    <a:cubicBezTo>
                      <a:pt x="1145487" y="291584"/>
                      <a:pt x="1141818" y="300441"/>
                      <a:pt x="1135288" y="306972"/>
                    </a:cubicBezTo>
                    <a:cubicBezTo>
                      <a:pt x="1128757" y="313502"/>
                      <a:pt x="1119900" y="317171"/>
                      <a:pt x="1110665" y="317171"/>
                    </a:cubicBezTo>
                    <a:lnTo>
                      <a:pt x="34822" y="317171"/>
                    </a:lnTo>
                    <a:cubicBezTo>
                      <a:pt x="25587" y="317171"/>
                      <a:pt x="16730" y="313502"/>
                      <a:pt x="10199" y="306972"/>
                    </a:cubicBezTo>
                    <a:cubicBezTo>
                      <a:pt x="3669" y="300441"/>
                      <a:pt x="0" y="291584"/>
                      <a:pt x="0" y="282349"/>
                    </a:cubicBezTo>
                    <a:lnTo>
                      <a:pt x="0" y="34822"/>
                    </a:lnTo>
                    <a:cubicBezTo>
                      <a:pt x="0" y="25587"/>
                      <a:pt x="3669" y="16730"/>
                      <a:pt x="10199" y="10199"/>
                    </a:cubicBezTo>
                    <a:cubicBezTo>
                      <a:pt x="16730" y="3669"/>
                      <a:pt x="25587" y="0"/>
                      <a:pt x="34822" y="0"/>
                    </a:cubicBezTo>
                    <a:close/>
                  </a:path>
                </a:pathLst>
              </a:custGeom>
              <a:solidFill>
                <a:srgbClr val="A0BB91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1145487" cy="3647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Diseño y experiencia de usuario (UX/UI)</a:t>
                </a: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0637932" y="6645681"/>
            <a:ext cx="4014749" cy="2484829"/>
            <a:chOff x="0" y="0"/>
            <a:chExt cx="5352999" cy="3313105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395295"/>
              <a:ext cx="5352999" cy="2917810"/>
              <a:chOff x="0" y="0"/>
              <a:chExt cx="1307705" cy="71280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07705" cy="712803"/>
              </a:xfrm>
              <a:custGeom>
                <a:avLst/>
                <a:gdLst/>
                <a:ahLst/>
                <a:cxnLst/>
                <a:rect r="r" b="b" t="t" l="l"/>
                <a:pathLst>
                  <a:path h="712803" w="1307705">
                    <a:moveTo>
                      <a:pt x="57851" y="0"/>
                    </a:moveTo>
                    <a:lnTo>
                      <a:pt x="1249854" y="0"/>
                    </a:lnTo>
                    <a:cubicBezTo>
                      <a:pt x="1265197" y="0"/>
                      <a:pt x="1279912" y="6095"/>
                      <a:pt x="1290761" y="16944"/>
                    </a:cubicBezTo>
                    <a:cubicBezTo>
                      <a:pt x="1301610" y="27793"/>
                      <a:pt x="1307705" y="42508"/>
                      <a:pt x="1307705" y="57851"/>
                    </a:cubicBezTo>
                    <a:lnTo>
                      <a:pt x="1307705" y="654952"/>
                    </a:lnTo>
                    <a:cubicBezTo>
                      <a:pt x="1307705" y="686902"/>
                      <a:pt x="1281804" y="712803"/>
                      <a:pt x="1249854" y="712803"/>
                    </a:cubicBezTo>
                    <a:lnTo>
                      <a:pt x="57851" y="712803"/>
                    </a:lnTo>
                    <a:cubicBezTo>
                      <a:pt x="42508" y="712803"/>
                      <a:pt x="27793" y="706708"/>
                      <a:pt x="16944" y="695859"/>
                    </a:cubicBezTo>
                    <a:cubicBezTo>
                      <a:pt x="6095" y="685010"/>
                      <a:pt x="0" y="670295"/>
                      <a:pt x="0" y="654952"/>
                    </a:cubicBezTo>
                    <a:lnTo>
                      <a:pt x="0" y="57851"/>
                    </a:lnTo>
                    <a:cubicBezTo>
                      <a:pt x="0" y="42508"/>
                      <a:pt x="6095" y="27793"/>
                      <a:pt x="16944" y="16944"/>
                    </a:cubicBezTo>
                    <a:cubicBezTo>
                      <a:pt x="27793" y="6095"/>
                      <a:pt x="42508" y="0"/>
                      <a:pt x="57851" y="0"/>
                    </a:cubicBezTo>
                    <a:close/>
                  </a:path>
                </a:pathLst>
              </a:custGeom>
              <a:solidFill>
                <a:srgbClr val="F1DECE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76200"/>
                <a:ext cx="1307705" cy="789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811966" y="1580352"/>
              <a:ext cx="402388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42004" indent="-421002" lvl="1">
                <a:lnSpc>
                  <a:spcPts val="4679"/>
                </a:lnSpc>
                <a:buFont typeface="Arial"/>
                <a:buChar char="•"/>
              </a:pPr>
              <a:r>
                <a:rPr lang="en-US" sz="3899">
                  <a:solidFill>
                    <a:srgbClr val="000000"/>
                  </a:solidFill>
                  <a:latin typeface="อีฟดอวอิ้ง"/>
                  <a:ea typeface="อีฟดอวอิ้ง"/>
                  <a:cs typeface="อีฟดอวอิ้ง"/>
                  <a:sym typeface="อีฟดอวอิ้ง"/>
                </a:rPr>
                <a:t>Trello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675907" y="0"/>
              <a:ext cx="4159939" cy="895381"/>
              <a:chOff x="0" y="0"/>
              <a:chExt cx="945576" cy="20352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45576" cy="203525"/>
              </a:xfrm>
              <a:custGeom>
                <a:avLst/>
                <a:gdLst/>
                <a:ahLst/>
                <a:cxnLst/>
                <a:rect r="r" b="b" t="t" l="l"/>
                <a:pathLst>
                  <a:path h="203525" w="945576">
                    <a:moveTo>
                      <a:pt x="42184" y="0"/>
                    </a:moveTo>
                    <a:lnTo>
                      <a:pt x="903392" y="0"/>
                    </a:lnTo>
                    <a:cubicBezTo>
                      <a:pt x="914580" y="0"/>
                      <a:pt x="925309" y="4444"/>
                      <a:pt x="933220" y="12355"/>
                    </a:cubicBezTo>
                    <a:cubicBezTo>
                      <a:pt x="941132" y="20267"/>
                      <a:pt x="945576" y="30996"/>
                      <a:pt x="945576" y="42184"/>
                    </a:cubicBezTo>
                    <a:lnTo>
                      <a:pt x="945576" y="161341"/>
                    </a:lnTo>
                    <a:cubicBezTo>
                      <a:pt x="945576" y="184638"/>
                      <a:pt x="926689" y="203525"/>
                      <a:pt x="903392" y="203525"/>
                    </a:cubicBezTo>
                    <a:lnTo>
                      <a:pt x="42184" y="203525"/>
                    </a:lnTo>
                    <a:cubicBezTo>
                      <a:pt x="30996" y="203525"/>
                      <a:pt x="20267" y="199080"/>
                      <a:pt x="12355" y="191169"/>
                    </a:cubicBezTo>
                    <a:cubicBezTo>
                      <a:pt x="4444" y="183258"/>
                      <a:pt x="0" y="172529"/>
                      <a:pt x="0" y="161341"/>
                    </a:cubicBezTo>
                    <a:lnTo>
                      <a:pt x="0" y="42184"/>
                    </a:lnTo>
                    <a:cubicBezTo>
                      <a:pt x="0" y="30996"/>
                      <a:pt x="4444" y="20267"/>
                      <a:pt x="12355" y="12355"/>
                    </a:cubicBezTo>
                    <a:cubicBezTo>
                      <a:pt x="20267" y="4444"/>
                      <a:pt x="30996" y="0"/>
                      <a:pt x="42184" y="0"/>
                    </a:cubicBezTo>
                    <a:close/>
                  </a:path>
                </a:pathLst>
              </a:custGeom>
              <a:solidFill>
                <a:srgbClr val="E9BE9C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47625"/>
                <a:ext cx="945576" cy="251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ontrail One"/>
                    <a:ea typeface="Contrail One"/>
                    <a:cs typeface="Contrail One"/>
                    <a:sym typeface="Contrail One"/>
                  </a:rPr>
                  <a:t>Gestión del proyecto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1224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0" y="7637642"/>
            <a:ext cx="1006831" cy="2643400"/>
          </a:xfrm>
          <a:custGeom>
            <a:avLst/>
            <a:gdLst/>
            <a:ahLst/>
            <a:cxnLst/>
            <a:rect r="r" b="b" t="t" l="l"/>
            <a:pathLst>
              <a:path h="2643400" w="1006831">
                <a:moveTo>
                  <a:pt x="1006831" y="0"/>
                </a:moveTo>
                <a:lnTo>
                  <a:pt x="0" y="0"/>
                </a:lnTo>
                <a:lnTo>
                  <a:pt x="0" y="2643399"/>
                </a:lnTo>
                <a:lnTo>
                  <a:pt x="1006831" y="2643399"/>
                </a:lnTo>
                <a:lnTo>
                  <a:pt x="1006831" y="0"/>
                </a:lnTo>
                <a:close/>
              </a:path>
            </a:pathLst>
          </a:custGeom>
          <a:blipFill>
            <a:blip r:embed="rId3"/>
            <a:stretch>
              <a:fillRect l="-334859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480445" y="676991"/>
            <a:ext cx="9328581" cy="1351204"/>
            <a:chOff x="0" y="0"/>
            <a:chExt cx="3041308" cy="440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1309" cy="440520"/>
            </a:xfrm>
            <a:custGeom>
              <a:avLst/>
              <a:gdLst/>
              <a:ahLst/>
              <a:cxnLst/>
              <a:rect r="r" b="b" t="t" l="l"/>
              <a:pathLst>
                <a:path h="440520" w="3041309">
                  <a:moveTo>
                    <a:pt x="82991" y="0"/>
                  </a:moveTo>
                  <a:lnTo>
                    <a:pt x="2958317" y="0"/>
                  </a:lnTo>
                  <a:cubicBezTo>
                    <a:pt x="3004152" y="0"/>
                    <a:pt x="3041309" y="37157"/>
                    <a:pt x="3041309" y="82991"/>
                  </a:cubicBezTo>
                  <a:lnTo>
                    <a:pt x="3041309" y="357529"/>
                  </a:lnTo>
                  <a:cubicBezTo>
                    <a:pt x="3041309" y="403364"/>
                    <a:pt x="3004152" y="440520"/>
                    <a:pt x="2958317" y="440520"/>
                  </a:cubicBezTo>
                  <a:lnTo>
                    <a:pt x="82991" y="440520"/>
                  </a:lnTo>
                  <a:cubicBezTo>
                    <a:pt x="37157" y="440520"/>
                    <a:pt x="0" y="403364"/>
                    <a:pt x="0" y="357529"/>
                  </a:cubicBezTo>
                  <a:lnTo>
                    <a:pt x="0" y="82991"/>
                  </a:lnTo>
                  <a:cubicBezTo>
                    <a:pt x="0" y="37157"/>
                    <a:pt x="37157" y="0"/>
                    <a:pt x="82991" y="0"/>
                  </a:cubicBez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41308" cy="478620"/>
            </a:xfrm>
            <a:prstGeom prst="rect">
              <a:avLst/>
            </a:prstGeom>
          </p:spPr>
          <p:txBody>
            <a:bodyPr anchor="ctr" rtlCol="false" tIns="41039" lIns="41039" bIns="41039" rIns="4103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19002" y="519812"/>
            <a:ext cx="1552027" cy="1270722"/>
          </a:xfrm>
          <a:custGeom>
            <a:avLst/>
            <a:gdLst/>
            <a:ahLst/>
            <a:cxnLst/>
            <a:rect r="r" b="b" t="t" l="l"/>
            <a:pathLst>
              <a:path h="1270722" w="1552027">
                <a:moveTo>
                  <a:pt x="0" y="0"/>
                </a:moveTo>
                <a:lnTo>
                  <a:pt x="1552027" y="0"/>
                </a:lnTo>
                <a:lnTo>
                  <a:pt x="1552027" y="1270722"/>
                </a:lnTo>
                <a:lnTo>
                  <a:pt x="0" y="1270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34302" y="2332535"/>
            <a:ext cx="6716633" cy="2909115"/>
          </a:xfrm>
          <a:custGeom>
            <a:avLst/>
            <a:gdLst/>
            <a:ahLst/>
            <a:cxnLst/>
            <a:rect r="r" b="b" t="t" l="l"/>
            <a:pathLst>
              <a:path h="2909115" w="6716633">
                <a:moveTo>
                  <a:pt x="0" y="0"/>
                </a:moveTo>
                <a:lnTo>
                  <a:pt x="6716633" y="0"/>
                </a:lnTo>
                <a:lnTo>
                  <a:pt x="6716633" y="2909115"/>
                </a:lnTo>
                <a:lnTo>
                  <a:pt x="0" y="2909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3656" y="2332535"/>
            <a:ext cx="6879039" cy="2546986"/>
          </a:xfrm>
          <a:custGeom>
            <a:avLst/>
            <a:gdLst/>
            <a:ahLst/>
            <a:cxnLst/>
            <a:rect r="r" b="b" t="t" l="l"/>
            <a:pathLst>
              <a:path h="2546986" w="6879039">
                <a:moveTo>
                  <a:pt x="0" y="0"/>
                </a:moveTo>
                <a:lnTo>
                  <a:pt x="6879039" y="0"/>
                </a:lnTo>
                <a:lnTo>
                  <a:pt x="6879039" y="2546985"/>
                </a:lnTo>
                <a:lnTo>
                  <a:pt x="0" y="25469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70307" y="5792742"/>
            <a:ext cx="6822388" cy="2984795"/>
          </a:xfrm>
          <a:custGeom>
            <a:avLst/>
            <a:gdLst/>
            <a:ahLst/>
            <a:cxnLst/>
            <a:rect r="r" b="b" t="t" l="l"/>
            <a:pathLst>
              <a:path h="2984795" w="6822388">
                <a:moveTo>
                  <a:pt x="0" y="0"/>
                </a:moveTo>
                <a:lnTo>
                  <a:pt x="6822388" y="0"/>
                </a:lnTo>
                <a:lnTo>
                  <a:pt x="6822388" y="2984794"/>
                </a:lnTo>
                <a:lnTo>
                  <a:pt x="0" y="2984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34302" y="6137696"/>
            <a:ext cx="7904605" cy="2294885"/>
          </a:xfrm>
          <a:custGeom>
            <a:avLst/>
            <a:gdLst/>
            <a:ahLst/>
            <a:cxnLst/>
            <a:rect r="r" b="b" t="t" l="l"/>
            <a:pathLst>
              <a:path h="2294885" w="7904605">
                <a:moveTo>
                  <a:pt x="0" y="0"/>
                </a:moveTo>
                <a:lnTo>
                  <a:pt x="7904605" y="0"/>
                </a:lnTo>
                <a:lnTo>
                  <a:pt x="7904605" y="2294886"/>
                </a:lnTo>
                <a:lnTo>
                  <a:pt x="0" y="22948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499830" y="605537"/>
            <a:ext cx="2393807" cy="93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1"/>
              </a:lnSpc>
            </a:pPr>
            <a:r>
              <a:rPr lang="en-US" sz="670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Costos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40633" y="7195940"/>
            <a:ext cx="2963887" cy="1789447"/>
          </a:xfrm>
          <a:custGeom>
            <a:avLst/>
            <a:gdLst/>
            <a:ahLst/>
            <a:cxnLst/>
            <a:rect r="r" b="b" t="t" l="l"/>
            <a:pathLst>
              <a:path h="1789447" w="2963887">
                <a:moveTo>
                  <a:pt x="0" y="0"/>
                </a:moveTo>
                <a:lnTo>
                  <a:pt x="2963886" y="0"/>
                </a:lnTo>
                <a:lnTo>
                  <a:pt x="2963886" y="1789446"/>
                </a:lnTo>
                <a:lnTo>
                  <a:pt x="0" y="1789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36180" y="-794090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60" y="0"/>
                </a:lnTo>
                <a:lnTo>
                  <a:pt x="3272360" y="3966497"/>
                </a:lnTo>
                <a:lnTo>
                  <a:pt x="0" y="3966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92256" y="4213774"/>
            <a:ext cx="3667044" cy="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5626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Cronograma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314261" y="-255581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3762" y="6612351"/>
            <a:ext cx="12253779" cy="2282266"/>
          </a:xfrm>
          <a:custGeom>
            <a:avLst/>
            <a:gdLst/>
            <a:ahLst/>
            <a:cxnLst/>
            <a:rect r="r" b="b" t="t" l="l"/>
            <a:pathLst>
              <a:path h="2282266" w="12253779">
                <a:moveTo>
                  <a:pt x="0" y="0"/>
                </a:moveTo>
                <a:lnTo>
                  <a:pt x="12253779" y="0"/>
                </a:lnTo>
                <a:lnTo>
                  <a:pt x="12253779" y="2282267"/>
                </a:lnTo>
                <a:lnTo>
                  <a:pt x="0" y="22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3762" y="1295055"/>
            <a:ext cx="12253779" cy="5100636"/>
          </a:xfrm>
          <a:custGeom>
            <a:avLst/>
            <a:gdLst/>
            <a:ahLst/>
            <a:cxnLst/>
            <a:rect r="r" b="b" t="t" l="l"/>
            <a:pathLst>
              <a:path h="5100636" w="12253779">
                <a:moveTo>
                  <a:pt x="0" y="0"/>
                </a:moveTo>
                <a:lnTo>
                  <a:pt x="12253779" y="0"/>
                </a:lnTo>
                <a:lnTo>
                  <a:pt x="12253779" y="5100636"/>
                </a:lnTo>
                <a:lnTo>
                  <a:pt x="0" y="5100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59672" y="-12779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759266" y="7495874"/>
            <a:ext cx="2104395" cy="3111860"/>
          </a:xfrm>
          <a:custGeom>
            <a:avLst/>
            <a:gdLst/>
            <a:ahLst/>
            <a:cxnLst/>
            <a:rect r="r" b="b" t="t" l="l"/>
            <a:pathLst>
              <a:path h="3111860" w="2104395">
                <a:moveTo>
                  <a:pt x="0" y="0"/>
                </a:moveTo>
                <a:lnTo>
                  <a:pt x="2104395" y="0"/>
                </a:lnTo>
                <a:lnTo>
                  <a:pt x="2104395" y="3111859"/>
                </a:lnTo>
                <a:lnTo>
                  <a:pt x="0" y="3111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718574"/>
            <a:ext cx="7084302" cy="7237201"/>
          </a:xfrm>
          <a:custGeom>
            <a:avLst/>
            <a:gdLst/>
            <a:ahLst/>
            <a:cxnLst/>
            <a:rect r="r" b="b" t="t" l="l"/>
            <a:pathLst>
              <a:path h="7237201" w="7084302">
                <a:moveTo>
                  <a:pt x="0" y="0"/>
                </a:moveTo>
                <a:lnTo>
                  <a:pt x="7084302" y="0"/>
                </a:lnTo>
                <a:lnTo>
                  <a:pt x="7084302" y="7237201"/>
                </a:lnTo>
                <a:lnTo>
                  <a:pt x="0" y="7237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38479" y="2716808"/>
            <a:ext cx="6878434" cy="7237201"/>
          </a:xfrm>
          <a:custGeom>
            <a:avLst/>
            <a:gdLst/>
            <a:ahLst/>
            <a:cxnLst/>
            <a:rect r="r" b="b" t="t" l="l"/>
            <a:pathLst>
              <a:path h="7237201" w="6878434">
                <a:moveTo>
                  <a:pt x="0" y="0"/>
                </a:moveTo>
                <a:lnTo>
                  <a:pt x="6878434" y="0"/>
                </a:lnTo>
                <a:lnTo>
                  <a:pt x="6878434" y="7237201"/>
                </a:lnTo>
                <a:lnTo>
                  <a:pt x="0" y="7237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74433" y="475488"/>
            <a:ext cx="11223775" cy="1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7"/>
              </a:lnSpc>
            </a:pPr>
            <a:r>
              <a:rPr lang="en-US" sz="87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Métricas de pruebas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5108" y="1970671"/>
            <a:ext cx="2559661" cy="50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Primer Ciclo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73278" y="1968905"/>
            <a:ext cx="3004646" cy="50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600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Segundo Ciclo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59672" y="-12779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22586" y="4590288"/>
            <a:ext cx="5065302" cy="1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7"/>
              </a:lnSpc>
            </a:pPr>
            <a:r>
              <a:rPr lang="en-US" sz="87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DEMO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759266" y="7495874"/>
            <a:ext cx="2104395" cy="3111860"/>
          </a:xfrm>
          <a:custGeom>
            <a:avLst/>
            <a:gdLst/>
            <a:ahLst/>
            <a:cxnLst/>
            <a:rect r="r" b="b" t="t" l="l"/>
            <a:pathLst>
              <a:path h="3111860" w="2104395">
                <a:moveTo>
                  <a:pt x="0" y="0"/>
                </a:moveTo>
                <a:lnTo>
                  <a:pt x="2104395" y="0"/>
                </a:lnTo>
                <a:lnTo>
                  <a:pt x="2104395" y="3111859"/>
                </a:lnTo>
                <a:lnTo>
                  <a:pt x="0" y="3111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9757" y="5143500"/>
            <a:ext cx="7698054" cy="7746824"/>
          </a:xfrm>
          <a:custGeom>
            <a:avLst/>
            <a:gdLst/>
            <a:ahLst/>
            <a:cxnLst/>
            <a:rect r="r" b="b" t="t" l="l"/>
            <a:pathLst>
              <a:path h="7746824" w="7698054">
                <a:moveTo>
                  <a:pt x="0" y="0"/>
                </a:moveTo>
                <a:lnTo>
                  <a:pt x="7698054" y="0"/>
                </a:lnTo>
                <a:lnTo>
                  <a:pt x="7698054" y="7746824"/>
                </a:lnTo>
                <a:lnTo>
                  <a:pt x="0" y="7746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-111703"/>
            <a:ext cx="6566105" cy="4604481"/>
          </a:xfrm>
          <a:custGeom>
            <a:avLst/>
            <a:gdLst/>
            <a:ahLst/>
            <a:cxnLst/>
            <a:rect r="r" b="b" t="t" l="l"/>
            <a:pathLst>
              <a:path h="4604481" w="6566105">
                <a:moveTo>
                  <a:pt x="0" y="0"/>
                </a:moveTo>
                <a:lnTo>
                  <a:pt x="6566105" y="0"/>
                </a:lnTo>
                <a:lnTo>
                  <a:pt x="6566105" y="4604481"/>
                </a:lnTo>
                <a:lnTo>
                  <a:pt x="0" y="4604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4706" y="6977723"/>
            <a:ext cx="1380093" cy="3623388"/>
          </a:xfrm>
          <a:custGeom>
            <a:avLst/>
            <a:gdLst/>
            <a:ahLst/>
            <a:cxnLst/>
            <a:rect r="r" b="b" t="t" l="l"/>
            <a:pathLst>
              <a:path h="3623388" w="1380093">
                <a:moveTo>
                  <a:pt x="1380093" y="0"/>
                </a:moveTo>
                <a:lnTo>
                  <a:pt x="0" y="0"/>
                </a:lnTo>
                <a:lnTo>
                  <a:pt x="0" y="3623388"/>
                </a:lnTo>
                <a:lnTo>
                  <a:pt x="1380093" y="3623388"/>
                </a:lnTo>
                <a:lnTo>
                  <a:pt x="1380093" y="0"/>
                </a:lnTo>
                <a:close/>
              </a:path>
            </a:pathLst>
          </a:custGeom>
          <a:blipFill>
            <a:blip r:embed="rId2"/>
            <a:stretch>
              <a:fillRect l="-334859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67252" y="8603871"/>
            <a:ext cx="2520748" cy="3727539"/>
          </a:xfrm>
          <a:custGeom>
            <a:avLst/>
            <a:gdLst/>
            <a:ahLst/>
            <a:cxnLst/>
            <a:rect r="r" b="b" t="t" l="l"/>
            <a:pathLst>
              <a:path h="3727539" w="2520748">
                <a:moveTo>
                  <a:pt x="0" y="0"/>
                </a:moveTo>
                <a:lnTo>
                  <a:pt x="2520748" y="0"/>
                </a:lnTo>
                <a:lnTo>
                  <a:pt x="2520748" y="3727538"/>
                </a:lnTo>
                <a:lnTo>
                  <a:pt x="0" y="3727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15284" y="0"/>
            <a:ext cx="3830569" cy="4032177"/>
          </a:xfrm>
          <a:custGeom>
            <a:avLst/>
            <a:gdLst/>
            <a:ahLst/>
            <a:cxnLst/>
            <a:rect r="r" b="b" t="t" l="l"/>
            <a:pathLst>
              <a:path h="4032177" w="3830569">
                <a:moveTo>
                  <a:pt x="0" y="0"/>
                </a:moveTo>
                <a:lnTo>
                  <a:pt x="3830568" y="0"/>
                </a:lnTo>
                <a:lnTo>
                  <a:pt x="3830568" y="4032177"/>
                </a:lnTo>
                <a:lnTo>
                  <a:pt x="0" y="403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41324" y="3120338"/>
            <a:ext cx="5306916" cy="4046323"/>
            <a:chOff x="0" y="0"/>
            <a:chExt cx="7075888" cy="53950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75888" cy="5395098"/>
            </a:xfrm>
            <a:custGeom>
              <a:avLst/>
              <a:gdLst/>
              <a:ahLst/>
              <a:cxnLst/>
              <a:rect r="r" b="b" t="t" l="l"/>
              <a:pathLst>
                <a:path h="5395098" w="7075888">
                  <a:moveTo>
                    <a:pt x="0" y="0"/>
                  </a:moveTo>
                  <a:lnTo>
                    <a:pt x="7075888" y="0"/>
                  </a:lnTo>
                  <a:lnTo>
                    <a:pt x="7075888" y="5395098"/>
                  </a:lnTo>
                  <a:lnTo>
                    <a:pt x="0" y="539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435" t="0" r="-20435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91362" y="488388"/>
              <a:ext cx="5493164" cy="4446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6"/>
                </a:lnSpc>
              </a:pPr>
              <a:r>
                <a:rPr lang="en-US" sz="3371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Manejo y Adaptación de cambios frecue</a:t>
              </a:r>
              <a:r>
                <a:rPr lang="en-US" sz="3371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ntes sobre alcance: </a:t>
              </a:r>
            </a:p>
            <a:p>
              <a:pPr algn="ctr">
                <a:lnSpc>
                  <a:spcPts val="3236"/>
                </a:lnSpc>
              </a:pPr>
              <a:r>
                <a:rPr lang="en-US" sz="3371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Iteraciones cortas y Flexibilidad para ajustes de tareas en el cronograma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73339" y="0"/>
            <a:ext cx="3830569" cy="4032177"/>
          </a:xfrm>
          <a:custGeom>
            <a:avLst/>
            <a:gdLst/>
            <a:ahLst/>
            <a:cxnLst/>
            <a:rect r="r" b="b" t="t" l="l"/>
            <a:pathLst>
              <a:path h="4032177" w="3830569">
                <a:moveTo>
                  <a:pt x="0" y="0"/>
                </a:moveTo>
                <a:lnTo>
                  <a:pt x="3830569" y="0"/>
                </a:lnTo>
                <a:lnTo>
                  <a:pt x="3830569" y="4032177"/>
                </a:lnTo>
                <a:lnTo>
                  <a:pt x="0" y="403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710004" y="2332535"/>
            <a:ext cx="4722621" cy="2556119"/>
            <a:chOff x="0" y="0"/>
            <a:chExt cx="6296828" cy="3408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68033" y="447287"/>
              <a:ext cx="3960761" cy="2551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2"/>
                </a:lnSpc>
              </a:pPr>
              <a:r>
                <a:rPr lang="en-US" sz="32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Código fuente limpio</a:t>
              </a:r>
            </a:p>
            <a:p>
              <a:pPr algn="ctr">
                <a:lnSpc>
                  <a:spcPts val="2880"/>
                </a:lnSpc>
              </a:pPr>
              <a:r>
                <a:rPr lang="en-US" sz="30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Revisión y orden de carpetas y módulos.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66306" y="413475"/>
            <a:ext cx="12600946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Lecciones aprendidas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56939" y="2332535"/>
            <a:ext cx="4722621" cy="2556119"/>
            <a:chOff x="0" y="0"/>
            <a:chExt cx="6296828" cy="34081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91241" y="701287"/>
              <a:ext cx="5927138" cy="2043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2"/>
                </a:lnSpc>
              </a:pPr>
              <a:r>
                <a:rPr lang="en-US" sz="32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Organización del equipo</a:t>
              </a:r>
            </a:p>
            <a:p>
              <a:pPr algn="ctr">
                <a:lnSpc>
                  <a:spcPts val="2880"/>
                </a:lnSpc>
              </a:pPr>
              <a:r>
                <a:rPr lang="en-US" sz="30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Uso de Trello/GitHub, roles claros y reuniones periódicas.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4992" y="5656464"/>
            <a:ext cx="4722621" cy="2556119"/>
            <a:chOff x="0" y="0"/>
            <a:chExt cx="6296828" cy="34081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84845" y="524376"/>
              <a:ext cx="5927138" cy="2387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30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Interfaz atractiva y lúdica</a:t>
              </a:r>
            </a:p>
            <a:p>
              <a:pPr algn="ctr">
                <a:lnSpc>
                  <a:spcPts val="2688"/>
                </a:lnSpc>
              </a:pPr>
              <a:r>
                <a:rPr lang="en-US" sz="28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Gamificación con íconos, recompensas y microinteracciones.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10004" y="5699663"/>
            <a:ext cx="4722621" cy="2556119"/>
            <a:chOff x="0" y="0"/>
            <a:chExt cx="6296828" cy="34081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29606" y="504592"/>
              <a:ext cx="4837615" cy="2427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943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Brecha de conocimientos </a:t>
              </a:r>
              <a:r>
                <a:rPr lang="en-US" sz="2943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en minijuegos</a:t>
              </a:r>
            </a:p>
            <a:p>
              <a:pPr algn="ctr">
                <a:lnSpc>
                  <a:spcPts val="2825"/>
                </a:lnSpc>
              </a:pPr>
              <a:r>
                <a:rPr lang="en-US" sz="2943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Plan de aprendizaje y micro-prototipos.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8372" y="1935357"/>
            <a:ext cx="11080422" cy="5997279"/>
          </a:xfrm>
          <a:custGeom>
            <a:avLst/>
            <a:gdLst/>
            <a:ahLst/>
            <a:cxnLst/>
            <a:rect r="r" b="b" t="t" l="l"/>
            <a:pathLst>
              <a:path h="5997279" w="11080422">
                <a:moveTo>
                  <a:pt x="0" y="0"/>
                </a:moveTo>
                <a:lnTo>
                  <a:pt x="11080423" y="0"/>
                </a:lnTo>
                <a:lnTo>
                  <a:pt x="11080423" y="5997279"/>
                </a:lnTo>
                <a:lnTo>
                  <a:pt x="0" y="599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076" y="6078783"/>
            <a:ext cx="6166049" cy="5464661"/>
          </a:xfrm>
          <a:custGeom>
            <a:avLst/>
            <a:gdLst/>
            <a:ahLst/>
            <a:cxnLst/>
            <a:rect r="r" b="b" t="t" l="l"/>
            <a:pathLst>
              <a:path h="5464661" w="6166049">
                <a:moveTo>
                  <a:pt x="0" y="0"/>
                </a:moveTo>
                <a:lnTo>
                  <a:pt x="6166049" y="0"/>
                </a:lnTo>
                <a:lnTo>
                  <a:pt x="6166049" y="5464661"/>
                </a:lnTo>
                <a:lnTo>
                  <a:pt x="0" y="546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87208" y="-61451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6735" y="1346399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59" y="0"/>
                </a:lnTo>
                <a:lnTo>
                  <a:pt x="3272359" y="3966496"/>
                </a:lnTo>
                <a:lnTo>
                  <a:pt x="0" y="396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1932" y="6632028"/>
            <a:ext cx="6633407" cy="6675126"/>
          </a:xfrm>
          <a:custGeom>
            <a:avLst/>
            <a:gdLst/>
            <a:ahLst/>
            <a:cxnLst/>
            <a:rect r="r" b="b" t="t" l="l"/>
            <a:pathLst>
              <a:path h="6675126" w="6633407">
                <a:moveTo>
                  <a:pt x="0" y="0"/>
                </a:moveTo>
                <a:lnTo>
                  <a:pt x="6633406" y="0"/>
                </a:lnTo>
                <a:lnTo>
                  <a:pt x="6633406" y="6675126"/>
                </a:lnTo>
                <a:lnTo>
                  <a:pt x="0" y="667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14767" y="3272497"/>
            <a:ext cx="8607632" cy="295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0"/>
              </a:lnSpc>
            </a:pPr>
            <a:r>
              <a:rPr lang="en-US" sz="9748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Muchas </a:t>
            </a:r>
          </a:p>
          <a:p>
            <a:pPr algn="ctr">
              <a:lnSpc>
                <a:spcPts val="11210"/>
              </a:lnSpc>
            </a:pPr>
            <a:r>
              <a:rPr lang="en-US" sz="9748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DAG5SAtNPms</dc:identifier>
  <dcterms:modified xsi:type="dcterms:W3CDTF">2011-08-01T06:04:30Z</dcterms:modified>
  <cp:revision>1</cp:revision>
  <dc:title>presentacion</dc:title>
</cp:coreProperties>
</file>